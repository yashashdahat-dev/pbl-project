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Slide: Welcome examiners and evaluation committee members. Today we present I-MACSI: Intent-Aware Multi-Agent Cognitive Swarm Intelligence for AI-Native Low Earth Orbit Mega-Constellations. This project introduces a revolutionary paradigm in space communications: transforming satellites from dumb forwarding nodes into autonomous cognitive agents capable of understanding mission intent, dynamically learning optimal routing paths, and self-healing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Motivation: Megaconstellations with thousands of satellites are orbiting Earth at nearly 8 km per second. At this speed, network topology changes every few seconds. Inter-satellite laser links are vulnerable to radiation, orbital mechanics, and physical occlusions. Furthermore, traffic is no longer homogeneous: urgent disaster relief data must not be delayed behind massive terabytes of scientific Earth observation imagery.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Problem Statement: Why are existing routing protocols inadequate? Dijkstra creates packet black-holes when laser links snap in orbit. AODV floods laser links with control packets. Centralized SDN cannot react fast enough due to 150-300ms propagation delays to ground stations. I-MACSI fills this critical research gap by combining decentralized multi-agent Q-learning with 8-dimensional semantic mission intent vectors.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Architecture: I-MACSI organizes satellite communications into three hierarchical tiers: 1. The Mission Intent Layer: converts high-level mission requests into quantitative 8D optimization constraints. 2. The Cognitive Swarm Layer: where independent reinforcement learning agents run distributed Q-learning with intent-shaped rewards. 3. The Physical Constellation Layer: manages real-time optical ISLs, power adjustments, and orbital plane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Semantic Intent Vector: Standard IP routing only looks at destination addresses. I-MACSI extracts an 8-dimensional Intent Vector quantifying latency, throughput, reliability, congestion, energy, security, coverage, and compute. We have pre-defined 11 standard mission profiles, as well as an NLP Intent Extraction Engine that parses natural language mission commands into vector weights.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Cognitive Swarm Q-Routing: Every satellite runs an independent reinforcement learning agent. Unlike standard Q-learning with fixed static rewards, I-MACSI continuously modulates the reward function R_intent using the 8D intent vector. If a disaster packet arrives, latency penalties dominate. If bulk Earth observation data arrives, bandwidth and congestion penalties dominate. As seen in our convergence plot, the swarm reaches steady-state optimal routing within 200 episodes.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Intent Dissemination: Satellites do not act in isolation. Using a gossip protocol bounded by TTL=2, mission intents are shared proactively. When an Earth observation mission is about to send high-volume imagery, neighboring nodes proactively clear bandwidth buffers. FedMARL enables orbital planes to share learned Q-routing policies collaboratively.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Fault Recovery: In space, laser links break unexpectedly due to satellite drift or debris avoidance. Instead of waiting 300ms for Earth ground controllers, the satellite agent immediately flags the link failure locally, penalizes the failed action in its Q-table, and discovers an autonomous bypass route in less than 1.2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Results: We evaluated I-MACSI against Dijkstra shortest path, reactive AODV, and basic Q-routing. Under multi-link failures, Dijkstra suffers massive packet drops (down to 34% PDR), while I-MACSI maintains 83.0% PDR. Furthermore, our latency-sensitive flows experienced a 42% latency reduction compared to non-intent-aware baselines.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Ablation &amp; Scalability: To isolate each architectural component, our ablation study shows: Without Intent Awareness, PDR drops from 83% to 61% (a 22% loss). Without Cognitive State sharing, PDR drops by 7%. Our scalability benchmarks show computational complexity per satellite remains O(k * |A|), scaling linearly and remaining well within space-grade radiation-hardened processor budgets.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Working Prototype: We have built and verified a complete interactive Digital Twin. The frontend is built with React 18 and Three.js, rendering a 3D Earth and real-time satellite mesh. The Python backend runs the cognitive Q-routing engine and broadcasts live telemetry over WebSockets. Examiners can inject link failures by clicking links and watch the AI swarm reroute traffic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Conclusion &amp; Viva Defense: In summary, I-MACSI proves that cognitive swarm intelligence provides the resilience, intent-differentiation, and low latency necessary for next-generation satellite mega-constellations. We are now ready to demonstrate the live working prototype and answer all questions from the examination committee.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822960"/>
            <a:ext cx="10362895" cy="5212080"/>
          </a:xfrm>
          <a:prstGeom prst="roundRect">
            <a:avLst/>
          </a:prstGeom>
          <a:solidFill>
            <a:srgbClr val="0F1E3D"/>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188720"/>
            <a:ext cx="5029200" cy="365760"/>
          </a:xfrm>
          <a:prstGeom prst="roundRect">
            <a:avLst/>
          </a:prstGeom>
          <a:solidFill>
            <a:srgbClr val="14285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E5FF"/>
                </a:solidFill>
                <a:latin typeface="Trebuchet MS"/>
              </a:defRPr>
            </a:pPr>
            <a:r>
              <a:t>AI-NATIVE SPACE NETWORKING &amp; COGNITIVE SWARMS</a:t>
            </a:r>
          </a:p>
        </p:txBody>
      </p:sp>
      <p:sp>
        <p:nvSpPr>
          <p:cNvPr id="5" name="TextBox 4"/>
          <p:cNvSpPr txBox="1"/>
          <p:nvPr/>
        </p:nvSpPr>
        <p:spPr>
          <a:xfrm>
            <a:off x="1280160" y="1691640"/>
            <a:ext cx="9601200" cy="1645920"/>
          </a:xfrm>
          <a:prstGeom prst="rect">
            <a:avLst/>
          </a:prstGeom>
          <a:noFill/>
        </p:spPr>
        <p:txBody>
          <a:bodyPr wrap="square">
            <a:spAutoFit/>
          </a:bodyPr>
          <a:lstStyle/>
          <a:p>
            <a:pPr>
              <a:defRPr sz="3200" b="1">
                <a:solidFill>
                  <a:srgbClr val="FFFFFF"/>
                </a:solidFill>
                <a:latin typeface="Trebuchet MS"/>
              </a:defRPr>
            </a:pPr>
            <a:r>
              <a:t>I-MACSI: Intent-Aware Multi-Agent</a:t>
            </a:r>
          </a:p>
          <a:p>
            <a:pPr>
              <a:defRPr sz="3200" b="1">
                <a:solidFill>
                  <a:srgbClr val="00E5FF"/>
                </a:solidFill>
                <a:latin typeface="Trebuchet MS"/>
              </a:defRPr>
            </a:pPr>
            <a:r>
              <a:t>Cognitive Swarm Intelligence for LEO Networks</a:t>
            </a:r>
          </a:p>
        </p:txBody>
      </p:sp>
      <p:sp>
        <p:nvSpPr>
          <p:cNvPr id="6" name="TextBox 5"/>
          <p:cNvSpPr txBox="1"/>
          <p:nvPr/>
        </p:nvSpPr>
        <p:spPr>
          <a:xfrm>
            <a:off x="1280160" y="3383280"/>
            <a:ext cx="9601200" cy="914400"/>
          </a:xfrm>
          <a:prstGeom prst="rect">
            <a:avLst/>
          </a:prstGeom>
          <a:noFill/>
        </p:spPr>
        <p:txBody>
          <a:bodyPr wrap="square">
            <a:spAutoFit/>
          </a:bodyPr>
          <a:lstStyle/>
          <a:p>
            <a:pPr>
              <a:defRPr sz="1500">
                <a:solidFill>
                  <a:srgbClr val="A0B9DC"/>
                </a:solidFill>
                <a:latin typeface="Calibri"/>
              </a:defRPr>
            </a:pPr>
            <a:r>
              <a:t>Autonomous Self-Organizing Q-Routing, Semantic Intent Extraction, and Dynamic Fault Recovery for Next-Gen Satellite Constellations</a:t>
            </a:r>
          </a:p>
        </p:txBody>
      </p:sp>
      <p:sp>
        <p:nvSpPr>
          <p:cNvPr id="7" name="Rectangle 6"/>
          <p:cNvSpPr/>
          <p:nvPr/>
        </p:nvSpPr>
        <p:spPr>
          <a:xfrm>
            <a:off x="1280160" y="4480560"/>
            <a:ext cx="9601200" cy="1188720"/>
          </a:xfrm>
          <a:prstGeom prst="rect">
            <a:avLst/>
          </a:prstGeom>
          <a:solidFill>
            <a:srgbClr val="0A162E"/>
          </a:solidFill>
          <a:ln w="12700">
            <a:solidFill>
              <a:srgbClr val="4E9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Trebuchet MS"/>
              </a:defRPr>
            </a:pPr>
            <a:r>
              <a:t>Evaluation Deliverables:  Comprehensive Presentation  |  Live 3D Digital Twin  |  Empirical Research Benchmarks</a:t>
            </a:r>
          </a:p>
          <a:p>
            <a:pPr>
              <a:defRPr sz="1100">
                <a:solidFill>
                  <a:srgbClr val="00E5FF"/>
                </a:solidFill>
                <a:latin typeface="Calibri"/>
              </a:defRPr>
            </a:pPr>
            <a:r>
              <a:t>Core Technologies: Multi-Agent Q-Learning, FedMARL, 8D Semantic Intent Vectors, Python Simulator, Three.js Digital Twin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PROJECT BACKGROUND &amp; MOTIVATION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The LEO Mega-Constellation Revolution &amp; Challenges</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2 of 12</a:t>
            </a:r>
          </a:p>
        </p:txBody>
      </p:sp>
      <p:sp>
        <p:nvSpPr>
          <p:cNvPr id="7" name="Rounded Rectangle 6"/>
          <p:cNvSpPr/>
          <p:nvPr/>
        </p:nvSpPr>
        <p:spPr>
          <a:xfrm>
            <a:off x="731520" y="1691640"/>
            <a:ext cx="3328416"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3054096" cy="411480"/>
          </a:xfrm>
          <a:prstGeom prst="rect">
            <a:avLst/>
          </a:prstGeom>
          <a:noFill/>
        </p:spPr>
        <p:txBody>
          <a:bodyPr wrap="square">
            <a:spAutoFit/>
          </a:bodyPr>
          <a:lstStyle/>
          <a:p>
            <a:pPr>
              <a:defRPr sz="1400" b="1">
                <a:solidFill>
                  <a:srgbClr val="00E5FF"/>
                </a:solidFill>
                <a:latin typeface="Trebuchet MS"/>
              </a:defRPr>
            </a:pPr>
            <a:r>
              <a:t>1. Mega-Constellation Scale</a:t>
            </a:r>
          </a:p>
        </p:txBody>
      </p:sp>
      <p:sp>
        <p:nvSpPr>
          <p:cNvPr id="9" name="TextBox 8"/>
          <p:cNvSpPr txBox="1"/>
          <p:nvPr/>
        </p:nvSpPr>
        <p:spPr>
          <a:xfrm>
            <a:off x="868680" y="2286000"/>
            <a:ext cx="3054096" cy="3657600"/>
          </a:xfrm>
          <a:prstGeom prst="rect">
            <a:avLst/>
          </a:prstGeom>
          <a:noFill/>
        </p:spPr>
        <p:txBody>
          <a:bodyPr wrap="square">
            <a:spAutoFit/>
          </a:bodyPr>
          <a:lstStyle/>
          <a:p>
            <a:pPr>
              <a:defRPr b="1" sz="1300">
                <a:solidFill>
                  <a:srgbClr val="FFFFFF"/>
                </a:solidFill>
              </a:defRPr>
            </a:pPr>
            <a:r>
              <a:t>Explosive Orbital Growth:</a:t>
            </a:r>
          </a:p>
          <a:p>
            <a:pPr>
              <a:defRPr sz="1200">
                <a:solidFill>
                  <a:srgbClr val="A0B9DC"/>
                </a:solidFill>
              </a:defRPr>
            </a:pPr>
            <a:r>
              <a:t>• 10,000+ satellites launched by Starlink, OneWeb, Kuiper.</a:t>
            </a:r>
          </a:p>
          <a:p>
            <a:pPr>
              <a:defRPr sz="1200">
                <a:solidFill>
                  <a:srgbClr val="A0B9DC"/>
                </a:solidFill>
              </a:defRPr>
            </a:pPr>
            <a:r>
              <a:t>• Altitudes of 500-1200 km with orbital speeds of ~7.8 km/s.</a:t>
            </a:r>
          </a:p>
          <a:p>
            <a:pPr>
              <a:defRPr sz="1200">
                <a:solidFill>
                  <a:srgbClr val="A0B9DC"/>
                </a:solidFill>
              </a:defRPr>
            </a:pPr>
            <a:r>
              <a:t>• Satellites circle the globe every 90-100 minutes.</a:t>
            </a:r>
          </a:p>
          <a:p>
            <a:pPr>
              <a:defRPr sz="1200">
                <a:solidFill>
                  <a:srgbClr val="A0B9DC"/>
                </a:solidFill>
              </a:defRPr>
            </a:pPr>
            <a:r>
              <a:t>• High-capacity optical Inter-Satellite Links (ISLs) form complex dynamic meshes in space.</a:t>
            </a:r>
          </a:p>
        </p:txBody>
      </p:sp>
      <p:sp>
        <p:nvSpPr>
          <p:cNvPr id="10" name="Rounded Rectangle 9"/>
          <p:cNvSpPr/>
          <p:nvPr/>
        </p:nvSpPr>
        <p:spPr>
          <a:xfrm>
            <a:off x="4425696" y="1691640"/>
            <a:ext cx="3328416" cy="4389120"/>
          </a:xfrm>
          <a:prstGeom prst="roundRect">
            <a:avLst/>
          </a:prstGeom>
          <a:solidFill>
            <a:srgbClr val="0F1E3D"/>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801368"/>
            <a:ext cx="3054096" cy="411480"/>
          </a:xfrm>
          <a:prstGeom prst="rect">
            <a:avLst/>
          </a:prstGeom>
          <a:noFill/>
        </p:spPr>
        <p:txBody>
          <a:bodyPr wrap="square">
            <a:spAutoFit/>
          </a:bodyPr>
          <a:lstStyle/>
          <a:p>
            <a:pPr>
              <a:defRPr sz="1400" b="1">
                <a:solidFill>
                  <a:srgbClr val="F59E0B"/>
                </a:solidFill>
                <a:latin typeface="Trebuchet MS"/>
              </a:defRPr>
            </a:pPr>
            <a:r>
              <a:t>2. Extreme Dynamics &amp; Hazards</a:t>
            </a:r>
          </a:p>
        </p:txBody>
      </p:sp>
      <p:sp>
        <p:nvSpPr>
          <p:cNvPr id="12" name="TextBox 11"/>
          <p:cNvSpPr txBox="1"/>
          <p:nvPr/>
        </p:nvSpPr>
        <p:spPr>
          <a:xfrm>
            <a:off x="4562856" y="2286000"/>
            <a:ext cx="3054096" cy="3657600"/>
          </a:xfrm>
          <a:prstGeom prst="rect">
            <a:avLst/>
          </a:prstGeom>
          <a:noFill/>
        </p:spPr>
        <p:txBody>
          <a:bodyPr wrap="square">
            <a:spAutoFit/>
          </a:bodyPr>
          <a:lstStyle/>
          <a:p>
            <a:pPr>
              <a:defRPr b="1" sz="1300">
                <a:solidFill>
                  <a:srgbClr val="FFFFFF"/>
                </a:solidFill>
              </a:defRPr>
            </a:pPr>
            <a:r>
              <a:t>Continuous Space Disruptions:</a:t>
            </a:r>
          </a:p>
          <a:p>
            <a:pPr>
              <a:defRPr sz="1200">
                <a:solidFill>
                  <a:srgbClr val="A0B9DC"/>
                </a:solidFill>
              </a:defRPr>
            </a:pPr>
            <a:r>
              <a:t>• Rapid ISL handovers: Inter-plane links disconnect and reconnect continuously.</a:t>
            </a:r>
          </a:p>
          <a:p>
            <a:pPr>
              <a:defRPr sz="1200">
                <a:solidFill>
                  <a:srgbClr val="A0B9DC"/>
                </a:solidFill>
              </a:defRPr>
            </a:pPr>
            <a:r>
              <a:t>• Space radiation, cosmic rays, and solar flares cause sudden hardware drops.</a:t>
            </a:r>
          </a:p>
          <a:p>
            <a:pPr>
              <a:defRPr sz="1200">
                <a:solidFill>
                  <a:srgbClr val="A0B9DC"/>
                </a:solidFill>
              </a:defRPr>
            </a:pPr>
            <a:r>
              <a:t>• Space debris collision avoidance maneuvers force link dropouts.</a:t>
            </a:r>
          </a:p>
          <a:p>
            <a:pPr>
              <a:defRPr sz="1200">
                <a:solidFill>
                  <a:srgbClr val="A0B9DC"/>
                </a:solidFill>
              </a:defRPr>
            </a:pPr>
            <a:r>
              <a:t>• Ground propagation delays prevent centralized real-time Earth control.</a:t>
            </a:r>
          </a:p>
        </p:txBody>
      </p:sp>
      <p:sp>
        <p:nvSpPr>
          <p:cNvPr id="13" name="Rounded Rectangle 12"/>
          <p:cNvSpPr/>
          <p:nvPr/>
        </p:nvSpPr>
        <p:spPr>
          <a:xfrm>
            <a:off x="8119872" y="1691640"/>
            <a:ext cx="3328416" cy="4389120"/>
          </a:xfrm>
          <a:prstGeom prst="roundRect">
            <a:avLst/>
          </a:prstGeom>
          <a:solidFill>
            <a:srgbClr val="0F1E3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801368"/>
            <a:ext cx="3054096" cy="411480"/>
          </a:xfrm>
          <a:prstGeom prst="rect">
            <a:avLst/>
          </a:prstGeom>
          <a:noFill/>
        </p:spPr>
        <p:txBody>
          <a:bodyPr wrap="square">
            <a:spAutoFit/>
          </a:bodyPr>
          <a:lstStyle/>
          <a:p>
            <a:pPr>
              <a:defRPr sz="1400" b="1">
                <a:solidFill>
                  <a:srgbClr val="10B981"/>
                </a:solidFill>
                <a:latin typeface="Trebuchet MS"/>
              </a:defRPr>
            </a:pPr>
            <a:r>
              <a:t>3. Diverse Mission Demands</a:t>
            </a:r>
          </a:p>
        </p:txBody>
      </p:sp>
      <p:sp>
        <p:nvSpPr>
          <p:cNvPr id="15" name="TextBox 14"/>
          <p:cNvSpPr txBox="1"/>
          <p:nvPr/>
        </p:nvSpPr>
        <p:spPr>
          <a:xfrm>
            <a:off x="8257031" y="2286000"/>
            <a:ext cx="3054096" cy="3657600"/>
          </a:xfrm>
          <a:prstGeom prst="rect">
            <a:avLst/>
          </a:prstGeom>
          <a:noFill/>
        </p:spPr>
        <p:txBody>
          <a:bodyPr wrap="square">
            <a:spAutoFit/>
          </a:bodyPr>
          <a:lstStyle/>
          <a:p>
            <a:pPr>
              <a:defRPr b="1" sz="1300">
                <a:solidFill>
                  <a:srgbClr val="FFFFFF"/>
                </a:solidFill>
              </a:defRPr>
            </a:pPr>
            <a:r>
              <a:t>Conflicting QoS Requirements:</a:t>
            </a:r>
          </a:p>
          <a:p>
            <a:pPr>
              <a:defRPr sz="1200">
                <a:solidFill>
                  <a:srgbClr val="A0B9DC"/>
                </a:solidFill>
              </a:defRPr>
            </a:pPr>
            <a:r>
              <a:t>• Disaster Response: Demands ultra-low latency &amp; 99.999% reliability.</a:t>
            </a:r>
          </a:p>
          <a:p>
            <a:pPr>
              <a:defRPr sz="1200">
                <a:solidFill>
                  <a:srgbClr val="A0B9DC"/>
                </a:solidFill>
              </a:defRPr>
            </a:pPr>
            <a:r>
              <a:t>• Earth Observation: Requires massive gigabit throughput, latency-tolerant.</a:t>
            </a:r>
          </a:p>
          <a:p>
            <a:pPr>
              <a:defRPr sz="1200">
                <a:solidFill>
                  <a:srgbClr val="A0B9DC"/>
                </a:solidFill>
              </a:defRPr>
            </a:pPr>
            <a:r>
              <a:t>• Military &amp; Secure Comms: Strict zero-leakage encryption and path isolation.</a:t>
            </a:r>
          </a:p>
          <a:p>
            <a:pPr>
              <a:defRPr sz="1200">
                <a:solidFill>
                  <a:srgbClr val="A0B9DC"/>
                </a:solidFill>
              </a:defRPr>
            </a:pPr>
            <a:r>
              <a:t>• Autonomous Maritime / IoT: Low power budget &amp; intermittent burst packets.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RESEARCH GAPS &amp; NOVELTY</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Problem Statement &amp; Comparison with Existing Routing</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3 of 12</a:t>
            </a:r>
          </a:p>
        </p:txBody>
      </p:sp>
      <p:graphicFrame>
        <p:nvGraphicFramePr>
          <p:cNvPr id="7" name="Table 6"/>
          <p:cNvGraphicFramePr>
            <a:graphicFrameLocks noGrp="1"/>
          </p:cNvGraphicFramePr>
          <p:nvPr/>
        </p:nvGraphicFramePr>
        <p:xfrm>
          <a:off x="731520" y="1691640"/>
          <a:ext cx="10728655" cy="4297680"/>
        </p:xfrm>
        <a:graphic>
          <a:graphicData uri="http://schemas.openxmlformats.org/drawingml/2006/table">
            <a:tbl>
              <a:tblPr firstRow="1" bandRow="1">
                <a:tableStyleId>{5C22544A-7EE6-4342-B048-85BDC9FD1C3A}</a:tableStyleId>
              </a:tblPr>
              <a:tblGrid>
                <a:gridCol w="2011680"/>
                <a:gridCol w="2011680"/>
                <a:gridCol w="2103120"/>
                <a:gridCol w="2194560"/>
                <a:gridCol w="2407615"/>
              </a:tblGrid>
              <a:tr h="859536">
                <a:tc>
                  <a:txBody>
                    <a:bodyPr/>
                    <a:lstStyle/>
                    <a:p>
                      <a:pPr algn="ctr">
                        <a:defRPr sz="1200" b="1">
                          <a:solidFill>
                            <a:srgbClr val="00E5FF"/>
                          </a:solidFill>
                          <a:latin typeface="Trebuchet MS"/>
                        </a:defRPr>
                      </a:pPr>
                      <a:r>
                        <a:t>Routing Paradigm</a:t>
                      </a:r>
                    </a:p>
                  </a:txBody>
                  <a:tcPr>
                    <a:solidFill>
                      <a:srgbClr val="142850"/>
                    </a:solidFill>
                  </a:tcPr>
                </a:tc>
                <a:tc>
                  <a:txBody>
                    <a:bodyPr/>
                    <a:lstStyle/>
                    <a:p>
                      <a:pPr algn="ctr">
                        <a:defRPr sz="1200" b="1">
                          <a:solidFill>
                            <a:srgbClr val="00E5FF"/>
                          </a:solidFill>
                          <a:latin typeface="Trebuchet MS"/>
                        </a:defRPr>
                      </a:pPr>
                      <a:r>
                        <a:t>Failure Resilience</a:t>
                      </a:r>
                    </a:p>
                  </a:txBody>
                  <a:tcPr>
                    <a:solidFill>
                      <a:srgbClr val="142850"/>
                    </a:solidFill>
                  </a:tcPr>
                </a:tc>
                <a:tc>
                  <a:txBody>
                    <a:bodyPr/>
                    <a:lstStyle/>
                    <a:p>
                      <a:pPr algn="ctr">
                        <a:defRPr sz="1200" b="1">
                          <a:solidFill>
                            <a:srgbClr val="00E5FF"/>
                          </a:solidFill>
                          <a:latin typeface="Trebuchet MS"/>
                        </a:defRPr>
                      </a:pPr>
                      <a:r>
                        <a:t>QoS Differentiation</a:t>
                      </a:r>
                    </a:p>
                  </a:txBody>
                  <a:tcPr>
                    <a:solidFill>
                      <a:srgbClr val="142850"/>
                    </a:solidFill>
                  </a:tcPr>
                </a:tc>
                <a:tc>
                  <a:txBody>
                    <a:bodyPr/>
                    <a:lstStyle/>
                    <a:p>
                      <a:pPr algn="ctr">
                        <a:defRPr sz="1200" b="1">
                          <a:solidFill>
                            <a:srgbClr val="00E5FF"/>
                          </a:solidFill>
                          <a:latin typeface="Trebuchet MS"/>
                        </a:defRPr>
                      </a:pPr>
                      <a:r>
                        <a:t>Control Overhead</a:t>
                      </a:r>
                    </a:p>
                  </a:txBody>
                  <a:tcPr>
                    <a:solidFill>
                      <a:srgbClr val="142850"/>
                    </a:solidFill>
                  </a:tcPr>
                </a:tc>
                <a:tc>
                  <a:txBody>
                    <a:bodyPr/>
                    <a:lstStyle/>
                    <a:p>
                      <a:pPr algn="ctr">
                        <a:defRPr sz="1200" b="1">
                          <a:solidFill>
                            <a:srgbClr val="00E5FF"/>
                          </a:solidFill>
                          <a:latin typeface="Trebuchet MS"/>
                        </a:defRPr>
                      </a:pPr>
                      <a:r>
                        <a:t>Adaptability to Dynamic LEO</a:t>
                      </a:r>
                    </a:p>
                  </a:txBody>
                  <a:tcPr>
                    <a:solidFill>
                      <a:srgbClr val="142850"/>
                    </a:solidFill>
                  </a:tcPr>
                </a:tc>
              </a:tr>
              <a:tr h="859536">
                <a:tc>
                  <a:txBody>
                    <a:bodyPr/>
                    <a:lstStyle/>
                    <a:p>
                      <a:pPr algn="l">
                        <a:defRPr sz="1100">
                          <a:solidFill>
                            <a:srgbClr val="FFFFFF"/>
                          </a:solidFill>
                          <a:latin typeface="Calibri"/>
                        </a:defRPr>
                      </a:pPr>
                      <a:r>
                        <a:t>Shortest Path (Dijkstra)</a:t>
                      </a:r>
                    </a:p>
                  </a:txBody>
                  <a:tcPr>
                    <a:solidFill>
                      <a:srgbClr val="0F1E3D"/>
                    </a:solidFill>
                  </a:tcPr>
                </a:tc>
                <a:tc>
                  <a:txBody>
                    <a:bodyPr/>
                    <a:lstStyle/>
                    <a:p>
                      <a:pPr algn="ctr">
                        <a:defRPr sz="1100">
                          <a:solidFill>
                            <a:srgbClr val="A0B9DC"/>
                          </a:solidFill>
                          <a:latin typeface="Calibri"/>
                        </a:defRPr>
                      </a:pPr>
                      <a:r>
                        <a:t>Severe (Black holes on ISL failure)</a:t>
                      </a:r>
                    </a:p>
                  </a:txBody>
                  <a:tcPr>
                    <a:solidFill>
                      <a:srgbClr val="0F1E3D"/>
                    </a:solidFill>
                  </a:tcPr>
                </a:tc>
                <a:tc>
                  <a:txBody>
                    <a:bodyPr/>
                    <a:lstStyle/>
                    <a:p>
                      <a:pPr algn="ctr">
                        <a:defRPr sz="1100">
                          <a:solidFill>
                            <a:srgbClr val="A0B9DC"/>
                          </a:solidFill>
                          <a:latin typeface="Calibri"/>
                        </a:defRPr>
                      </a:pPr>
                      <a:r>
                        <a:t>None (Hop/distance only)</a:t>
                      </a:r>
                    </a:p>
                  </a:txBody>
                  <a:tcPr>
                    <a:solidFill>
                      <a:srgbClr val="0F1E3D"/>
                    </a:solidFill>
                  </a:tcPr>
                </a:tc>
                <a:tc>
                  <a:txBody>
                    <a:bodyPr/>
                    <a:lstStyle/>
                    <a:p>
                      <a:pPr algn="ctr">
                        <a:defRPr sz="1100">
                          <a:solidFill>
                            <a:srgbClr val="A0B9DC"/>
                          </a:solidFill>
                          <a:latin typeface="Calibri"/>
                        </a:defRPr>
                      </a:pPr>
                      <a:r>
                        <a:t>High recalculation per link drop</a:t>
                      </a:r>
                    </a:p>
                  </a:txBody>
                  <a:tcPr>
                    <a:solidFill>
                      <a:srgbClr val="0F1E3D"/>
                    </a:solidFill>
                  </a:tcPr>
                </a:tc>
                <a:tc>
                  <a:txBody>
                    <a:bodyPr/>
                    <a:lstStyle/>
                    <a:p>
                      <a:pPr algn="ctr">
                        <a:defRPr sz="1100">
                          <a:solidFill>
                            <a:srgbClr val="A0B9DC"/>
                          </a:solidFill>
                          <a:latin typeface="Calibri"/>
                        </a:defRPr>
                      </a:pPr>
                      <a:r>
                        <a:t>Poor (Static snapshots only)</a:t>
                      </a:r>
                    </a:p>
                  </a:txBody>
                  <a:tcPr>
                    <a:solidFill>
                      <a:srgbClr val="0F1E3D"/>
                    </a:solidFill>
                  </a:tcPr>
                </a:tc>
              </a:tr>
              <a:tr h="859536">
                <a:tc>
                  <a:txBody>
                    <a:bodyPr/>
                    <a:lstStyle/>
                    <a:p>
                      <a:pPr algn="l">
                        <a:defRPr sz="1100">
                          <a:solidFill>
                            <a:srgbClr val="FFFFFF"/>
                          </a:solidFill>
                          <a:latin typeface="Calibri"/>
                        </a:defRPr>
                      </a:pPr>
                      <a:r>
                        <a:t>Reactive AODV / Flood</a:t>
                      </a:r>
                    </a:p>
                  </a:txBody>
                  <a:tcPr>
                    <a:solidFill>
                      <a:srgbClr val="0C1830"/>
                    </a:solidFill>
                  </a:tcPr>
                </a:tc>
                <a:tc>
                  <a:txBody>
                    <a:bodyPr/>
                    <a:lstStyle/>
                    <a:p>
                      <a:pPr algn="ctr">
                        <a:defRPr sz="1100">
                          <a:solidFill>
                            <a:srgbClr val="A0B9DC"/>
                          </a:solidFill>
                          <a:latin typeface="Calibri"/>
                        </a:defRPr>
                      </a:pPr>
                      <a:r>
                        <a:t>Moderate (High packet loss on breaks)</a:t>
                      </a:r>
                    </a:p>
                  </a:txBody>
                  <a:tcPr>
                    <a:solidFill>
                      <a:srgbClr val="0C1830"/>
                    </a:solidFill>
                  </a:tcPr>
                </a:tc>
                <a:tc>
                  <a:txBody>
                    <a:bodyPr/>
                    <a:lstStyle/>
                    <a:p>
                      <a:pPr algn="ctr">
                        <a:defRPr sz="1100">
                          <a:solidFill>
                            <a:srgbClr val="A0B9DC"/>
                          </a:solidFill>
                          <a:latin typeface="Calibri"/>
                        </a:defRPr>
                      </a:pPr>
                      <a:r>
                        <a:t>Poor (Best effort)</a:t>
                      </a:r>
                    </a:p>
                  </a:txBody>
                  <a:tcPr>
                    <a:solidFill>
                      <a:srgbClr val="0C1830"/>
                    </a:solidFill>
                  </a:tcPr>
                </a:tc>
                <a:tc>
                  <a:txBody>
                    <a:bodyPr/>
                    <a:lstStyle/>
                    <a:p>
                      <a:pPr algn="ctr">
                        <a:defRPr sz="1100">
                          <a:solidFill>
                            <a:srgbClr val="A0B9DC"/>
                          </a:solidFill>
                          <a:latin typeface="Calibri"/>
                        </a:defRPr>
                      </a:pPr>
                      <a:r>
                        <a:t>Massive (Floods control packets)</a:t>
                      </a:r>
                    </a:p>
                  </a:txBody>
                  <a:tcPr>
                    <a:solidFill>
                      <a:srgbClr val="0C1830"/>
                    </a:solidFill>
                  </a:tcPr>
                </a:tc>
                <a:tc>
                  <a:txBody>
                    <a:bodyPr/>
                    <a:lstStyle/>
                    <a:p>
                      <a:pPr algn="ctr">
                        <a:defRPr sz="1100">
                          <a:solidFill>
                            <a:srgbClr val="A0B9DC"/>
                          </a:solidFill>
                          <a:latin typeface="Calibri"/>
                        </a:defRPr>
                      </a:pPr>
                      <a:r>
                        <a:t>Low (High latency overhead)</a:t>
                      </a:r>
                    </a:p>
                  </a:txBody>
                  <a:tcPr>
                    <a:solidFill>
                      <a:srgbClr val="0C1830"/>
                    </a:solidFill>
                  </a:tcPr>
                </a:tc>
              </a:tr>
              <a:tr h="859536">
                <a:tc>
                  <a:txBody>
                    <a:bodyPr/>
                    <a:lstStyle/>
                    <a:p>
                      <a:pPr algn="l">
                        <a:defRPr sz="1100">
                          <a:solidFill>
                            <a:srgbClr val="FFFFFF"/>
                          </a:solidFill>
                          <a:latin typeface="Calibri"/>
                        </a:defRPr>
                      </a:pPr>
                      <a:r>
                        <a:t>Centralized IBN-SDN</a:t>
                      </a:r>
                    </a:p>
                  </a:txBody>
                  <a:tcPr>
                    <a:solidFill>
                      <a:srgbClr val="0F1E3D"/>
                    </a:solidFill>
                  </a:tcPr>
                </a:tc>
                <a:tc>
                  <a:txBody>
                    <a:bodyPr/>
                    <a:lstStyle/>
                    <a:p>
                      <a:pPr algn="ctr">
                        <a:defRPr sz="1100">
                          <a:solidFill>
                            <a:srgbClr val="A0B9DC"/>
                          </a:solidFill>
                          <a:latin typeface="Calibri"/>
                        </a:defRPr>
                      </a:pPr>
                      <a:r>
                        <a:t>Slow (Requires Earth Ground Loop)</a:t>
                      </a:r>
                    </a:p>
                  </a:txBody>
                  <a:tcPr>
                    <a:solidFill>
                      <a:srgbClr val="0F1E3D"/>
                    </a:solidFill>
                  </a:tcPr>
                </a:tc>
                <a:tc>
                  <a:txBody>
                    <a:bodyPr/>
                    <a:lstStyle/>
                    <a:p>
                      <a:pPr algn="ctr">
                        <a:defRPr sz="1100">
                          <a:solidFill>
                            <a:srgbClr val="A0B9DC"/>
                          </a:solidFill>
                          <a:latin typeface="Calibri"/>
                        </a:defRPr>
                      </a:pPr>
                      <a:r>
                        <a:t>High (via Ground Controller)</a:t>
                      </a:r>
                    </a:p>
                  </a:txBody>
                  <a:tcPr>
                    <a:solidFill>
                      <a:srgbClr val="0F1E3D"/>
                    </a:solidFill>
                  </a:tcPr>
                </a:tc>
                <a:tc>
                  <a:txBody>
                    <a:bodyPr/>
                    <a:lstStyle/>
                    <a:p>
                      <a:pPr algn="ctr">
                        <a:defRPr sz="1100">
                          <a:solidFill>
                            <a:srgbClr val="A0B9DC"/>
                          </a:solidFill>
                          <a:latin typeface="Calibri"/>
                        </a:defRPr>
                      </a:pPr>
                      <a:r>
                        <a:t>Very High (ISL bandwidth consumed)</a:t>
                      </a:r>
                    </a:p>
                  </a:txBody>
                  <a:tcPr>
                    <a:solidFill>
                      <a:srgbClr val="0F1E3D"/>
                    </a:solidFill>
                  </a:tcPr>
                </a:tc>
                <a:tc>
                  <a:txBody>
                    <a:bodyPr/>
                    <a:lstStyle/>
                    <a:p>
                      <a:pPr algn="ctr">
                        <a:defRPr sz="1100">
                          <a:solidFill>
                            <a:srgbClr val="A0B9DC"/>
                          </a:solidFill>
                          <a:latin typeface="Calibri"/>
                        </a:defRPr>
                      </a:pPr>
                      <a:r>
                        <a:t>Lagging (150-300ms propagation)</a:t>
                      </a:r>
                    </a:p>
                  </a:txBody>
                  <a:tcPr>
                    <a:solidFill>
                      <a:srgbClr val="0F1E3D"/>
                    </a:solidFill>
                  </a:tcPr>
                </a:tc>
              </a:tr>
              <a:tr h="859536">
                <a:tc>
                  <a:txBody>
                    <a:bodyPr/>
                    <a:lstStyle/>
                    <a:p>
                      <a:pPr algn="l">
                        <a:defRPr sz="1100" b="1">
                          <a:solidFill>
                            <a:srgbClr val="00E5FF"/>
                          </a:solidFill>
                          <a:latin typeface="Calibri"/>
                        </a:defRPr>
                      </a:pPr>
                      <a:r>
                        <a:t>I-MACSI (Proposed)</a:t>
                      </a:r>
                    </a:p>
                  </a:txBody>
                  <a:tcPr>
                    <a:solidFill>
                      <a:srgbClr val="102D50"/>
                    </a:solidFill>
                  </a:tcPr>
                </a:tc>
                <a:tc>
                  <a:txBody>
                    <a:bodyPr/>
                    <a:lstStyle/>
                    <a:p>
                      <a:pPr algn="ctr">
                        <a:defRPr sz="1100" b="1">
                          <a:solidFill>
                            <a:srgbClr val="10B981"/>
                          </a:solidFill>
                          <a:latin typeface="Calibri"/>
                        </a:defRPr>
                      </a:pPr>
                      <a:r>
                        <a:t>Autonomous (&lt;1.2s local self-healing)</a:t>
                      </a:r>
                    </a:p>
                  </a:txBody>
                  <a:tcPr>
                    <a:solidFill>
                      <a:srgbClr val="102D50"/>
                    </a:solidFill>
                  </a:tcPr>
                </a:tc>
                <a:tc>
                  <a:txBody>
                    <a:bodyPr/>
                    <a:lstStyle/>
                    <a:p>
                      <a:pPr algn="ctr">
                        <a:defRPr sz="1100" b="1">
                          <a:solidFill>
                            <a:srgbClr val="10B981"/>
                          </a:solidFill>
                          <a:latin typeface="Calibri"/>
                        </a:defRPr>
                      </a:pPr>
                      <a:r>
                        <a:t>8D Semantic Intent Dynamic Optimization</a:t>
                      </a:r>
                    </a:p>
                  </a:txBody>
                  <a:tcPr>
                    <a:solidFill>
                      <a:srgbClr val="102D50"/>
                    </a:solidFill>
                  </a:tcPr>
                </a:tc>
                <a:tc>
                  <a:txBody>
                    <a:bodyPr/>
                    <a:lstStyle/>
                    <a:p>
                      <a:pPr algn="ctr">
                        <a:defRPr sz="1100" b="1">
                          <a:solidFill>
                            <a:srgbClr val="10B981"/>
                          </a:solidFill>
                          <a:latin typeface="Calibri"/>
                        </a:defRPr>
                      </a:pPr>
                      <a:r>
                        <a:t>Near-Zero (Local Gossip TTL=2)</a:t>
                      </a:r>
                    </a:p>
                  </a:txBody>
                  <a:tcPr>
                    <a:solidFill>
                      <a:srgbClr val="102D50"/>
                    </a:solidFill>
                  </a:tcPr>
                </a:tc>
                <a:tc>
                  <a:txBody>
                    <a:bodyPr/>
                    <a:lstStyle/>
                    <a:p>
                      <a:pPr algn="ctr">
                        <a:defRPr sz="1100" b="1">
                          <a:solidFill>
                            <a:srgbClr val="10B981"/>
                          </a:solidFill>
                          <a:latin typeface="Calibri"/>
                        </a:defRPr>
                      </a:pPr>
                      <a:r>
                        <a:t>Ultra-High (Cognitive Swarm Learning)</a:t>
                      </a:r>
                    </a:p>
                  </a:txBody>
                  <a:tcPr>
                    <a:solidFill>
                      <a:srgbClr val="102D50"/>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SYSTEM ARCHITECTURE &amp; MODEL</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I-MACSI Architecture: The 3-Tier Cognitive Framework</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4 of 12</a:t>
            </a:r>
          </a:p>
        </p:txBody>
      </p:sp>
      <p:sp>
        <p:nvSpPr>
          <p:cNvPr id="7" name="Rounded Rectangle 6"/>
          <p:cNvSpPr/>
          <p:nvPr/>
        </p:nvSpPr>
        <p:spPr>
          <a:xfrm>
            <a:off x="731520" y="1691640"/>
            <a:ext cx="10728655" cy="128016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10454335" cy="411480"/>
          </a:xfrm>
          <a:prstGeom prst="rect">
            <a:avLst/>
          </a:prstGeom>
          <a:noFill/>
        </p:spPr>
        <p:txBody>
          <a:bodyPr wrap="square">
            <a:spAutoFit/>
          </a:bodyPr>
          <a:lstStyle/>
          <a:p>
            <a:pPr>
              <a:defRPr sz="1400" b="1">
                <a:solidFill>
                  <a:srgbClr val="00E5FF"/>
                </a:solidFill>
                <a:latin typeface="Trebuchet MS"/>
              </a:defRPr>
            </a:pPr>
            <a:r>
              <a:t>Tier 1: Mission Intent Understanding Layer (Semantic NLP &amp; 8D Vector)</a:t>
            </a:r>
          </a:p>
        </p:txBody>
      </p:sp>
      <p:sp>
        <p:nvSpPr>
          <p:cNvPr id="9" name="TextBox 8"/>
          <p:cNvSpPr txBox="1"/>
          <p:nvPr/>
        </p:nvSpPr>
        <p:spPr>
          <a:xfrm>
            <a:off x="868680" y="2148840"/>
            <a:ext cx="10454335" cy="731520"/>
          </a:xfrm>
          <a:prstGeom prst="rect">
            <a:avLst/>
          </a:prstGeom>
          <a:noFill/>
        </p:spPr>
        <p:txBody>
          <a:bodyPr wrap="square">
            <a:spAutoFit/>
          </a:bodyPr>
          <a:lstStyle/>
          <a:p>
            <a:pPr>
              <a:defRPr sz="1200">
                <a:solidFill>
                  <a:srgbClr val="A0B9DC"/>
                </a:solidFill>
              </a:defRPr>
            </a:pPr>
            <a:r>
              <a:t>• Extracts semantic intent from natural language or mission codes  • Generates 8D Intent Vector [Lat, Thr, Rel, Cng, Eng, Sec, Cov, Cmp]  • Feeds dynamic objectives to satellite agents.</a:t>
            </a:r>
          </a:p>
        </p:txBody>
      </p:sp>
      <p:sp>
        <p:nvSpPr>
          <p:cNvPr id="10" name="Rounded Rectangle 9"/>
          <p:cNvSpPr/>
          <p:nvPr/>
        </p:nvSpPr>
        <p:spPr>
          <a:xfrm>
            <a:off x="731520" y="3154680"/>
            <a:ext cx="10728655" cy="1280160"/>
          </a:xfrm>
          <a:prstGeom prst="roundRect">
            <a:avLst/>
          </a:prstGeom>
          <a:solidFill>
            <a:srgbClr val="0F1E3D"/>
          </a:solidFill>
          <a:ln w="15240">
            <a:solidFill>
              <a:srgbClr val="4E9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264408"/>
            <a:ext cx="10454335" cy="411480"/>
          </a:xfrm>
          <a:prstGeom prst="rect">
            <a:avLst/>
          </a:prstGeom>
          <a:noFill/>
        </p:spPr>
        <p:txBody>
          <a:bodyPr wrap="square">
            <a:spAutoFit/>
          </a:bodyPr>
          <a:lstStyle/>
          <a:p>
            <a:pPr>
              <a:defRPr sz="1400" b="1">
                <a:solidFill>
                  <a:srgbClr val="4E95FF"/>
                </a:solidFill>
                <a:latin typeface="Trebuchet MS"/>
              </a:defRPr>
            </a:pPr>
            <a:r>
              <a:t>Tier 2: Cognitive Swarm Agent Layer (Decentralized Q-Learning &amp; FedMARL)</a:t>
            </a:r>
          </a:p>
        </p:txBody>
      </p:sp>
      <p:sp>
        <p:nvSpPr>
          <p:cNvPr id="12" name="TextBox 11"/>
          <p:cNvSpPr txBox="1"/>
          <p:nvPr/>
        </p:nvSpPr>
        <p:spPr>
          <a:xfrm>
            <a:off x="868680" y="3611880"/>
            <a:ext cx="10454335" cy="731520"/>
          </a:xfrm>
          <a:prstGeom prst="rect">
            <a:avLst/>
          </a:prstGeom>
          <a:noFill/>
        </p:spPr>
        <p:txBody>
          <a:bodyPr wrap="square">
            <a:spAutoFit/>
          </a:bodyPr>
          <a:lstStyle/>
          <a:p>
            <a:pPr>
              <a:defRPr sz="1200">
                <a:solidFill>
                  <a:srgbClr val="A0B9DC"/>
                </a:solidFill>
              </a:defRPr>
            </a:pPr>
            <a:r>
              <a:t>• Autonomous Sense-Decide-Act-Learn loop on every satellite  • Dynamic Reward Shaping modulated by active mission intent  • Intent Dissemination Protocol (TTL=2) &amp; periodic FedMARL consensus.</a:t>
            </a:r>
          </a:p>
        </p:txBody>
      </p:sp>
      <p:sp>
        <p:nvSpPr>
          <p:cNvPr id="13" name="Rounded Rectangle 12"/>
          <p:cNvSpPr/>
          <p:nvPr/>
        </p:nvSpPr>
        <p:spPr>
          <a:xfrm>
            <a:off x="731520" y="4617720"/>
            <a:ext cx="10728655" cy="1280160"/>
          </a:xfrm>
          <a:prstGeom prst="roundRect">
            <a:avLst/>
          </a:prstGeom>
          <a:solidFill>
            <a:srgbClr val="0F1E3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727448"/>
            <a:ext cx="10454335" cy="411480"/>
          </a:xfrm>
          <a:prstGeom prst="rect">
            <a:avLst/>
          </a:prstGeom>
          <a:noFill/>
        </p:spPr>
        <p:txBody>
          <a:bodyPr wrap="square">
            <a:spAutoFit/>
          </a:bodyPr>
          <a:lstStyle/>
          <a:p>
            <a:pPr>
              <a:defRPr sz="1400" b="1">
                <a:solidFill>
                  <a:srgbClr val="10B981"/>
                </a:solidFill>
                <a:latin typeface="Trebuchet MS"/>
              </a:defRPr>
            </a:pPr>
            <a:r>
              <a:t>Tier 3: Dynamic Physical Constellation &amp; ISL Execution Layer</a:t>
            </a:r>
          </a:p>
        </p:txBody>
      </p:sp>
      <p:sp>
        <p:nvSpPr>
          <p:cNvPr id="15" name="TextBox 14"/>
          <p:cNvSpPr txBox="1"/>
          <p:nvPr/>
        </p:nvSpPr>
        <p:spPr>
          <a:xfrm>
            <a:off x="868680" y="5074920"/>
            <a:ext cx="10454335" cy="731520"/>
          </a:xfrm>
          <a:prstGeom prst="rect">
            <a:avLst/>
          </a:prstGeom>
          <a:noFill/>
        </p:spPr>
        <p:txBody>
          <a:bodyPr wrap="square">
            <a:spAutoFit/>
          </a:bodyPr>
          <a:lstStyle/>
          <a:p>
            <a:pPr>
              <a:defRPr sz="1200">
                <a:solidFill>
                  <a:srgbClr val="A0B9DC"/>
                </a:solidFill>
              </a:defRPr>
            </a:pPr>
            <a:r>
              <a:t>• Multi-plane Walker Delta grid topology (16 to 128 satellites)  • Real-time link telemetry (ISL delay, queue occupancy, SNR, BER, packet loss)  • Laser beam allocation, Tx power tuning, &amp; cipher mode.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SEMANTIC INTENT MODEL</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8D Mission Intent Vector Formulation &amp; NLP Engine</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5 of 12</a:t>
            </a:r>
          </a:p>
        </p:txBody>
      </p:sp>
      <p:sp>
        <p:nvSpPr>
          <p:cNvPr id="7" name="Rounded Rectangle 6"/>
          <p:cNvSpPr/>
          <p:nvPr/>
        </p:nvSpPr>
        <p:spPr>
          <a:xfrm>
            <a:off x="731520" y="1691640"/>
            <a:ext cx="5212080"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00E5FF"/>
                </a:solidFill>
                <a:latin typeface="Trebuchet MS"/>
              </a:defRPr>
            </a:pPr>
            <a:r>
              <a:t>8-Dimensional Mission Intent Vector</a:t>
            </a:r>
          </a:p>
        </p:txBody>
      </p:sp>
      <p:sp>
        <p:nvSpPr>
          <p:cNvPr id="9" name="TextBox 8"/>
          <p:cNvSpPr txBox="1"/>
          <p:nvPr/>
        </p:nvSpPr>
        <p:spPr>
          <a:xfrm>
            <a:off x="868680" y="2240280"/>
            <a:ext cx="4937760" cy="3749039"/>
          </a:xfrm>
          <a:prstGeom prst="rect">
            <a:avLst/>
          </a:prstGeom>
          <a:noFill/>
        </p:spPr>
        <p:txBody>
          <a:bodyPr wrap="square">
            <a:spAutoFit/>
          </a:bodyPr>
          <a:lstStyle/>
          <a:p>
            <a:pPr>
              <a:defRPr b="1" sz="1300">
                <a:solidFill>
                  <a:srgbClr val="FFFFFF"/>
                </a:solidFill>
              </a:defRPr>
            </a:pPr>
            <a:r>
              <a:t>Vector Definition:</a:t>
            </a:r>
          </a:p>
          <a:p>
            <a:pPr>
              <a:defRPr b="1" sz="1100">
                <a:solidFill>
                  <a:srgbClr val="00E5FF"/>
                </a:solidFill>
                <a:latin typeface="Consolas"/>
              </a:defRPr>
            </a:pPr>
            <a:r>
              <a:t>I_vec = [ w_lat, w_thr, w_rel, w_cng, w_eng, w_sec, w_cov, w_cmp ]</a:t>
            </a:r>
          </a:p>
          <a:p>
            <a:pPr>
              <a:defRPr sz="1050">
                <a:solidFill>
                  <a:srgbClr val="A0B9DC"/>
                </a:solidFill>
              </a:defRPr>
            </a:pPr>
            <a:r>
              <a:t>1. Latency Weight (w_lat): Urgency &amp; propagation minimization.</a:t>
            </a:r>
          </a:p>
          <a:p>
            <a:pPr>
              <a:defRPr sz="1050">
                <a:solidFill>
                  <a:srgbClr val="A0B9DC"/>
                </a:solidFill>
              </a:defRPr>
            </a:pPr>
            <a:r>
              <a:t>2. Throughput Weight (w_thr): Bandwidth capacity requirement.</a:t>
            </a:r>
          </a:p>
          <a:p>
            <a:pPr>
              <a:defRPr sz="1050">
                <a:solidFill>
                  <a:srgbClr val="A0B9DC"/>
                </a:solidFill>
              </a:defRPr>
            </a:pPr>
            <a:r>
              <a:t>3. Reliability Weight (w_rel): Packet loss tolerance &amp; FEC level.</a:t>
            </a:r>
          </a:p>
          <a:p>
            <a:pPr>
              <a:defRPr sz="1050">
                <a:solidFill>
                  <a:srgbClr val="A0B9DC"/>
                </a:solidFill>
              </a:defRPr>
            </a:pPr>
            <a:r>
              <a:t>4. Congestion Weight (w_cng): Queue bypass prioritization.</a:t>
            </a:r>
          </a:p>
          <a:p>
            <a:pPr>
              <a:defRPr sz="1050">
                <a:solidFill>
                  <a:srgbClr val="A0B9DC"/>
                </a:solidFill>
              </a:defRPr>
            </a:pPr>
            <a:r>
              <a:t>5. Energy Weight (w_eng): Solar/battery conservation factor.</a:t>
            </a:r>
          </a:p>
          <a:p>
            <a:pPr>
              <a:defRPr sz="1050">
                <a:solidFill>
                  <a:srgbClr val="A0B9DC"/>
                </a:solidFill>
              </a:defRPr>
            </a:pPr>
            <a:r>
              <a:t>6. Security Level (w_sec): Crypto requirement &amp; trusted path.</a:t>
            </a:r>
          </a:p>
          <a:p>
            <a:pPr>
              <a:defRPr sz="1050">
                <a:solidFill>
                  <a:srgbClr val="A0B9DC"/>
                </a:solidFill>
              </a:defRPr>
            </a:pPr>
            <a:r>
              <a:t>7. Coverage Priority (w_cov): Polar/remote ground reach.</a:t>
            </a:r>
          </a:p>
          <a:p>
            <a:pPr>
              <a:defRPr sz="1050">
                <a:solidFill>
                  <a:srgbClr val="A0B9DC"/>
                </a:solidFill>
              </a:defRPr>
            </a:pPr>
            <a:r>
              <a:t>8. Compute Demand (w_cmp): On-board edge processing offload.</a:t>
            </a:r>
          </a:p>
        </p:txBody>
      </p:sp>
      <p:sp>
        <p:nvSpPr>
          <p:cNvPr id="10" name="Rounded Rectangle 9"/>
          <p:cNvSpPr/>
          <p:nvPr/>
        </p:nvSpPr>
        <p:spPr>
          <a:xfrm>
            <a:off x="6217920" y="1691640"/>
            <a:ext cx="5242255" cy="4389120"/>
          </a:xfrm>
          <a:prstGeom prst="roundRect">
            <a:avLst/>
          </a:prstGeom>
          <a:solidFill>
            <a:srgbClr val="0F1E3D"/>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A855F7"/>
                </a:solidFill>
                <a:latin typeface="Trebuchet MS"/>
              </a:defRPr>
            </a:pPr>
            <a:r>
              <a:t>11 Standard Missions &amp; NLP Extraction</a:t>
            </a:r>
          </a:p>
        </p:txBody>
      </p:sp>
      <p:sp>
        <p:nvSpPr>
          <p:cNvPr id="12" name="TextBox 11"/>
          <p:cNvSpPr txBox="1"/>
          <p:nvPr/>
        </p:nvSpPr>
        <p:spPr>
          <a:xfrm>
            <a:off x="6355080" y="2240280"/>
            <a:ext cx="4937760" cy="3749039"/>
          </a:xfrm>
          <a:prstGeom prst="rect">
            <a:avLst/>
          </a:prstGeom>
          <a:noFill/>
        </p:spPr>
        <p:txBody>
          <a:bodyPr wrap="square">
            <a:spAutoFit/>
          </a:bodyPr>
          <a:lstStyle/>
          <a:p>
            <a:pPr>
              <a:defRPr b="1" sz="1200">
                <a:solidFill>
                  <a:srgbClr val="FFFFFF"/>
                </a:solidFill>
              </a:defRPr>
            </a:pPr>
            <a:r>
              <a:t>11 Pre-Engineered Standard Intents:</a:t>
            </a:r>
          </a:p>
          <a:p>
            <a:pPr>
              <a:defRPr sz="1050">
                <a:solidFill>
                  <a:srgbClr val="A0B9DC"/>
                </a:solidFill>
              </a:defRPr>
            </a:pPr>
            <a:r>
              <a:t>• CRITICAL_DISASTER: Max latency priority, zero loss tolerance.</a:t>
            </a:r>
          </a:p>
          <a:p>
            <a:pPr>
              <a:defRPr sz="1050">
                <a:solidFill>
                  <a:srgbClr val="A0B9DC"/>
                </a:solidFill>
              </a:defRPr>
            </a:pPr>
            <a:r>
              <a:t>• EARTH_OBSERVATION: Max bandwidth throughput, bulk delivery.</a:t>
            </a:r>
          </a:p>
          <a:p>
            <a:pPr>
              <a:defRPr sz="1050">
                <a:solidFill>
                  <a:srgbClr val="A0B9DC"/>
                </a:solidFill>
              </a:defRPr>
            </a:pPr>
            <a:r>
              <a:t>• SECURE_MISSION: Strict encryption &amp; sovereign node whitelist.</a:t>
            </a:r>
          </a:p>
          <a:p>
            <a:pPr>
              <a:defRPr sz="1050">
                <a:solidFill>
                  <a:srgbClr val="A0B9DC"/>
                </a:solidFill>
              </a:defRPr>
            </a:pPr>
            <a:r>
              <a:t>• AUTONOMOUS_MARITIME: High coverage, intermittent burst.</a:t>
            </a:r>
          </a:p>
          <a:p>
            <a:pPr>
              <a:defRPr sz="1050">
                <a:solidFill>
                  <a:srgbClr val="A0B9DC"/>
                </a:solidFill>
              </a:defRPr>
            </a:pPr>
            <a:r>
              <a:t>• MILITARY_RECON: Ultra-high security &amp; low latency.</a:t>
            </a:r>
          </a:p>
          <a:p>
            <a:pPr>
              <a:defRPr sz="1050">
                <a:solidFill>
                  <a:srgbClr val="A0B9DC"/>
                </a:solidFill>
              </a:defRPr>
            </a:pPr>
            <a:r>
              <a:t>• REMOTE_HEALTHCARE: High reliability &amp; real-time telemetry.</a:t>
            </a:r>
          </a:p>
          <a:p>
            <a:pPr>
              <a:defRPr b="1" sz="1200">
                <a:solidFill>
                  <a:srgbClr val="00E5FF"/>
                </a:solidFill>
              </a:defRPr>
            </a:pPr>
            <a:r>
              <a:t>Natural Language Intent Extraction Engine:</a:t>
            </a:r>
          </a:p>
          <a:p>
            <a:pPr>
              <a:defRPr sz="950">
                <a:solidFill>
                  <a:srgbClr val="10B981"/>
                </a:solidFill>
                <a:latin typeface="Consolas"/>
              </a:defRPr>
            </a:pPr>
            <a:r>
              <a:t>Input: 'Urgent wildfire sensor alert in remote forest zone'</a:t>
            </a:r>
            <a:br/>
            <a:r>
              <a:t>Output: w_lat=0.95, w_rel=0.90, w_cov=0.85 -&gt; Instant Disaster Priority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LEARNING ALGORITHMS &amp; RL FORMULATION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Decentralized Q-Routing &amp; Dynamic Reward Shaping</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6 of 12</a:t>
            </a:r>
          </a:p>
        </p:txBody>
      </p:sp>
      <p:sp>
        <p:nvSpPr>
          <p:cNvPr id="7" name="Rounded Rectangle 6"/>
          <p:cNvSpPr/>
          <p:nvPr/>
        </p:nvSpPr>
        <p:spPr>
          <a:xfrm>
            <a:off x="731520" y="1691640"/>
            <a:ext cx="5212080"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00E5FF"/>
                </a:solidFill>
                <a:latin typeface="Trebuchet MS"/>
              </a:defRPr>
            </a:pPr>
            <a:r>
              <a:t>Reinforcement Learning Formulation</a:t>
            </a:r>
          </a:p>
        </p:txBody>
      </p:sp>
      <p:sp>
        <p:nvSpPr>
          <p:cNvPr id="9" name="TextBox 8"/>
          <p:cNvSpPr txBox="1"/>
          <p:nvPr/>
        </p:nvSpPr>
        <p:spPr>
          <a:xfrm>
            <a:off x="868680" y="2240280"/>
            <a:ext cx="4937760" cy="3749039"/>
          </a:xfrm>
          <a:prstGeom prst="rect">
            <a:avLst/>
          </a:prstGeom>
          <a:noFill/>
        </p:spPr>
        <p:txBody>
          <a:bodyPr wrap="square">
            <a:spAutoFit/>
          </a:bodyPr>
          <a:lstStyle/>
          <a:p>
            <a:pPr>
              <a:defRPr b="1" sz="1200">
                <a:solidFill>
                  <a:srgbClr val="FFFFFF"/>
                </a:solidFill>
              </a:defRPr>
            </a:pPr>
            <a:r>
              <a:t>Distributed Multi-Agent Bellman Update:</a:t>
            </a:r>
          </a:p>
          <a:p>
            <a:pPr>
              <a:defRPr sz="1000">
                <a:solidFill>
                  <a:srgbClr val="00E5FF"/>
                </a:solidFill>
                <a:latin typeface="Consolas"/>
              </a:defRPr>
            </a:pPr>
            <a:r>
              <a:t>Q(s, a) = Q(s, a) + alpha * [ R_intent + gamma * max_a' Q(s', a') - Q(s, a) ]</a:t>
            </a:r>
          </a:p>
          <a:p>
            <a:pPr>
              <a:defRPr b="1" sz="1200">
                <a:solidFill>
                  <a:srgbClr val="FFFFFF"/>
                </a:solidFill>
              </a:defRPr>
            </a:pPr>
            <a:r>
              <a:t>Dynamic Intent-Shaped Reward Function:</a:t>
            </a:r>
          </a:p>
          <a:p>
            <a:pPr>
              <a:defRPr sz="950">
                <a:solidFill>
                  <a:srgbClr val="10B981"/>
                </a:solidFill>
                <a:latin typeface="Consolas"/>
              </a:defRPr>
            </a:pPr>
            <a:r>
              <a:t>R_intent = - [ w_lat * (T_prop + T_queue) + w_cng * C_ratio + w_rel * P_loss + w_sec * S_penalty ]</a:t>
            </a:r>
          </a:p>
          <a:p>
            <a:pPr>
              <a:defRPr sz="1050">
                <a:solidFill>
                  <a:srgbClr val="A0B9DC"/>
                </a:solidFill>
              </a:defRPr>
            </a:pPr>
            <a:r>
              <a:t>• State Space (s): Current node, neighbor queue depths, link states.</a:t>
            </a:r>
          </a:p>
          <a:p>
            <a:pPr>
              <a:defRPr sz="1050">
                <a:solidFill>
                  <a:srgbClr val="A0B9DC"/>
                </a:solidFill>
              </a:defRPr>
            </a:pPr>
            <a:r>
              <a:t>• Action Space (a): Selecting next-hop ISL neighbor (North, South, East, West).</a:t>
            </a:r>
          </a:p>
          <a:p>
            <a:pPr>
              <a:defRPr sz="1050">
                <a:solidFill>
                  <a:srgbClr val="A0B9DC"/>
                </a:solidFill>
              </a:defRPr>
            </a:pPr>
            <a:r>
              <a:t>• Learning Rate (alpha=0.1): Balanced learning speed &amp; stability.</a:t>
            </a:r>
          </a:p>
          <a:p>
            <a:pPr>
              <a:defRPr sz="1050">
                <a:solidFill>
                  <a:srgbClr val="A0B9DC"/>
                </a:solidFill>
              </a:defRPr>
            </a:pPr>
            <a:r>
              <a:t>• Discount Factor (gamma=0.9): Proactive multi-hop planning.</a:t>
            </a:r>
          </a:p>
        </p:txBody>
      </p:sp>
      <p:sp>
        <p:nvSpPr>
          <p:cNvPr id="10" name="Rounded Rectangle 9"/>
          <p:cNvSpPr/>
          <p:nvPr/>
        </p:nvSpPr>
        <p:spPr>
          <a:xfrm>
            <a:off x="6217920" y="1691640"/>
            <a:ext cx="5242255" cy="4389120"/>
          </a:xfrm>
          <a:prstGeom prst="roundRect">
            <a:avLst/>
          </a:prstGeom>
          <a:solidFill>
            <a:srgbClr val="0F1E3D"/>
          </a:solidFill>
          <a:ln w="15240">
            <a:solidFill>
              <a:srgbClr val="4E9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4E95FF"/>
                </a:solidFill>
                <a:latin typeface="Trebuchet MS"/>
              </a:defRPr>
            </a:pPr>
            <a:r>
              <a:t>Empirical Learning Convergence</a:t>
            </a:r>
          </a:p>
        </p:txBody>
      </p:sp>
      <p:pic>
        <p:nvPicPr>
          <p:cNvPr id="12" name="Picture 11" descr="5_learning_convergence.png"/>
          <p:cNvPicPr>
            <a:picLocks noChangeAspect="1"/>
          </p:cNvPicPr>
          <p:nvPr/>
        </p:nvPicPr>
        <p:blipFill>
          <a:blip r:embed="rId2"/>
          <a:stretch>
            <a:fillRect/>
          </a:stretch>
        </p:blipFill>
        <p:spPr>
          <a:xfrm>
            <a:off x="6400800" y="2240280"/>
            <a:ext cx="4876495" cy="35661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DISTRIBUTED CONSENSUS &amp; PROACTION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Intent Dissemination Protocol &amp; Swarm Coordination</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7 of 12</a:t>
            </a:r>
          </a:p>
        </p:txBody>
      </p:sp>
      <p:sp>
        <p:nvSpPr>
          <p:cNvPr id="7" name="Rounded Rectangle 6"/>
          <p:cNvSpPr/>
          <p:nvPr/>
        </p:nvSpPr>
        <p:spPr>
          <a:xfrm>
            <a:off x="731520" y="1691640"/>
            <a:ext cx="5212080"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00E5FF"/>
                </a:solidFill>
                <a:latin typeface="Trebuchet MS"/>
              </a:defRPr>
            </a:pPr>
            <a:r>
              <a:t>Gossip-Style Intent Dissemination</a:t>
            </a:r>
          </a:p>
        </p:txBody>
      </p:sp>
      <p:sp>
        <p:nvSpPr>
          <p:cNvPr id="9" name="TextBox 8"/>
          <p:cNvSpPr txBox="1"/>
          <p:nvPr/>
        </p:nvSpPr>
        <p:spPr>
          <a:xfrm>
            <a:off x="868680" y="2240280"/>
            <a:ext cx="4937760" cy="3749039"/>
          </a:xfrm>
          <a:prstGeom prst="rect">
            <a:avLst/>
          </a:prstGeom>
          <a:noFill/>
        </p:spPr>
        <p:txBody>
          <a:bodyPr wrap="square">
            <a:spAutoFit/>
          </a:bodyPr>
          <a:lstStyle/>
          <a:p>
            <a:pPr>
              <a:defRPr b="1" sz="1300">
                <a:solidFill>
                  <a:srgbClr val="FFFFFF"/>
                </a:solidFill>
              </a:defRPr>
            </a:pPr>
            <a:r>
              <a:t>Neighborhood Intent Sharing Mechanism:</a:t>
            </a:r>
          </a:p>
          <a:p>
            <a:pPr>
              <a:defRPr sz="1100">
                <a:solidFill>
                  <a:srgbClr val="A0B9DC"/>
                </a:solidFill>
              </a:defRPr>
            </a:pPr>
            <a:r>
              <a:t>• Bounded Gossip (TTL=2): Broadcasts active mission intent to 2-hop neighborhood without network flooding.</a:t>
            </a:r>
          </a:p>
          <a:p>
            <a:pPr>
              <a:defRPr sz="1100">
                <a:solidFill>
                  <a:srgbClr val="A0B9DC"/>
                </a:solidFill>
              </a:defRPr>
            </a:pPr>
            <a:r>
              <a:t>• Proactive Queue Clearance: Downstream satellites prioritize buffers before critical packets arrive.</a:t>
            </a:r>
          </a:p>
          <a:p>
            <a:pPr>
              <a:defRPr sz="1100">
                <a:solidFill>
                  <a:srgbClr val="A0B9DC"/>
                </a:solidFill>
              </a:defRPr>
            </a:pPr>
            <a:r>
              <a:t>• Optical Power &amp; Beam Allocation: Satellites boost laser power for high-reliability missions proactively.</a:t>
            </a:r>
          </a:p>
          <a:p>
            <a:pPr>
              <a:defRPr sz="1100">
                <a:solidFill>
                  <a:srgbClr val="A0B9DC"/>
                </a:solidFill>
              </a:defRPr>
            </a:pPr>
            <a:r>
              <a:t>• Compute Offloading: Nodes with surplus onboard compute advertise capacity for remote processing.</a:t>
            </a:r>
          </a:p>
        </p:txBody>
      </p:sp>
      <p:sp>
        <p:nvSpPr>
          <p:cNvPr id="10" name="Rounded Rectangle 9"/>
          <p:cNvSpPr/>
          <p:nvPr/>
        </p:nvSpPr>
        <p:spPr>
          <a:xfrm>
            <a:off x="6217920" y="1691640"/>
            <a:ext cx="5242255" cy="4389120"/>
          </a:xfrm>
          <a:prstGeom prst="roundRect">
            <a:avLst/>
          </a:prstGeom>
          <a:solidFill>
            <a:srgbClr val="0F1E3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10B981"/>
                </a:solidFill>
                <a:latin typeface="Trebuchet MS"/>
              </a:defRPr>
            </a:pPr>
            <a:r>
              <a:t>Federated Swarm Learning (FedMARL)</a:t>
            </a:r>
          </a:p>
        </p:txBody>
      </p:sp>
      <p:sp>
        <p:nvSpPr>
          <p:cNvPr id="12" name="TextBox 11"/>
          <p:cNvSpPr txBox="1"/>
          <p:nvPr/>
        </p:nvSpPr>
        <p:spPr>
          <a:xfrm>
            <a:off x="6355080" y="2240280"/>
            <a:ext cx="4937760" cy="3749039"/>
          </a:xfrm>
          <a:prstGeom prst="rect">
            <a:avLst/>
          </a:prstGeom>
          <a:noFill/>
        </p:spPr>
        <p:txBody>
          <a:bodyPr wrap="square">
            <a:spAutoFit/>
          </a:bodyPr>
          <a:lstStyle/>
          <a:p>
            <a:pPr>
              <a:defRPr b="1" sz="1300">
                <a:solidFill>
                  <a:srgbClr val="FFFFFF"/>
                </a:solidFill>
              </a:defRPr>
            </a:pPr>
            <a:r>
              <a:t>Decentralized Model Aggregation:</a:t>
            </a:r>
          </a:p>
          <a:p>
            <a:pPr>
              <a:defRPr sz="1100">
                <a:solidFill>
                  <a:srgbClr val="A0B9DC"/>
                </a:solidFill>
              </a:defRPr>
            </a:pPr>
            <a:r>
              <a:t>• Inter-Plane Parameter Exchange: Satellites in the same and adjacent orbital planes periodically share Q-table weights.</a:t>
            </a:r>
          </a:p>
          <a:p>
            <a:pPr>
              <a:defRPr sz="1100">
                <a:solidFill>
                  <a:srgbClr val="A0B9DC"/>
                </a:solidFill>
              </a:defRPr>
            </a:pPr>
            <a:r>
              <a:t>• Accelerated Swarm Wisdom: Rapidly propagates knowledge of congested zones and severed ISLs across orbits.</a:t>
            </a:r>
          </a:p>
          <a:p>
            <a:pPr>
              <a:defRPr sz="1100">
                <a:solidFill>
                  <a:srgbClr val="A0B9DC"/>
                </a:solidFill>
              </a:defRPr>
            </a:pPr>
            <a:r>
              <a:t>• Privacy &amp; Sovereign Security: Transmits only abstracted policy gradients, keeping mission payloads fully isolated.</a:t>
            </a:r>
          </a:p>
          <a:p>
            <a:pPr>
              <a:defRPr sz="1100">
                <a:solidFill>
                  <a:srgbClr val="A0B9DC"/>
                </a:solidFill>
              </a:defRPr>
            </a:pPr>
            <a:r>
              <a:t>• Zero Control Bottleneck: Completely avoids relying on centralized Earth ground station round-trips.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FAULT TOLERANCE &amp; RESILIENCE</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Autonomous Self-Healing Swarm &amp; Link Failure Recovery</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8 of 12</a:t>
            </a:r>
          </a:p>
        </p:txBody>
      </p:sp>
      <p:sp>
        <p:nvSpPr>
          <p:cNvPr id="7" name="Rounded Rectangle 6"/>
          <p:cNvSpPr/>
          <p:nvPr/>
        </p:nvSpPr>
        <p:spPr>
          <a:xfrm>
            <a:off x="731520" y="1691640"/>
            <a:ext cx="5212080" cy="4389120"/>
          </a:xfrm>
          <a:prstGeom prst="roundRect">
            <a:avLst/>
          </a:prstGeom>
          <a:solidFill>
            <a:srgbClr val="0F1E3D"/>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F59E0B"/>
                </a:solidFill>
                <a:latin typeface="Trebuchet MS"/>
              </a:defRPr>
            </a:pPr>
            <a:r>
              <a:t>Self-Organization &amp; Rerouting Loop</a:t>
            </a:r>
          </a:p>
        </p:txBody>
      </p:sp>
      <p:sp>
        <p:nvSpPr>
          <p:cNvPr id="9" name="TextBox 8"/>
          <p:cNvSpPr txBox="1"/>
          <p:nvPr/>
        </p:nvSpPr>
        <p:spPr>
          <a:xfrm>
            <a:off x="868680" y="2240280"/>
            <a:ext cx="4937760" cy="3749039"/>
          </a:xfrm>
          <a:prstGeom prst="rect">
            <a:avLst/>
          </a:prstGeom>
          <a:noFill/>
        </p:spPr>
        <p:txBody>
          <a:bodyPr wrap="square">
            <a:spAutoFit/>
          </a:bodyPr>
          <a:lstStyle/>
          <a:p>
            <a:pPr>
              <a:defRPr b="1" sz="1300">
                <a:solidFill>
                  <a:srgbClr val="FFFFFF"/>
                </a:solidFill>
              </a:defRPr>
            </a:pPr>
            <a:r>
              <a:t>Autonomous Recovery Steps:</a:t>
            </a:r>
          </a:p>
          <a:p>
            <a:pPr>
              <a:defRPr sz="1100">
                <a:solidFill>
                  <a:srgbClr val="A0B9DC"/>
                </a:solidFill>
              </a:defRPr>
            </a:pPr>
            <a:r>
              <a:t>1. Instant Failure Sensing: Satellite detects laser loss-of-signal / high BER and flags ISL as FAILED.</a:t>
            </a:r>
          </a:p>
          <a:p>
            <a:pPr>
              <a:defRPr sz="1100">
                <a:solidFill>
                  <a:srgbClr val="A0B9DC"/>
                </a:solidFill>
              </a:defRPr>
            </a:pPr>
            <a:r>
              <a:t>2. Immediate Reward Re-weighting: Failed action receives massive negative penalty (-100.0).</a:t>
            </a:r>
          </a:p>
          <a:p>
            <a:pPr>
              <a:defRPr sz="1100">
                <a:solidFill>
                  <a:srgbClr val="A0B9DC"/>
                </a:solidFill>
              </a:defRPr>
            </a:pPr>
            <a:r>
              <a:t>3. Local Exploration Trigger: Satellite activates alternate ISL neighbor (bypassing the damaged link).</a:t>
            </a:r>
          </a:p>
          <a:p>
            <a:pPr>
              <a:defRPr sz="1100">
                <a:solidFill>
                  <a:srgbClr val="A0B9DC"/>
                </a:solidFill>
              </a:defRPr>
            </a:pPr>
            <a:r>
              <a:t>4. Swarm Gossip Dissemination: Neighbors update topological weights within 1-2 hops.</a:t>
            </a:r>
          </a:p>
          <a:p>
            <a:pPr>
              <a:defRPr sz="1100">
                <a:solidFill>
                  <a:srgbClr val="A0B9DC"/>
                </a:solidFill>
              </a:defRPr>
            </a:pPr>
            <a:r>
              <a:t>5. Seamless Re-integration: When link recovers, positive feedback automatically restores the optimal path.</a:t>
            </a:r>
          </a:p>
        </p:txBody>
      </p:sp>
      <p:sp>
        <p:nvSpPr>
          <p:cNvPr id="10" name="Rounded Rectangle 9"/>
          <p:cNvSpPr/>
          <p:nvPr/>
        </p:nvSpPr>
        <p:spPr>
          <a:xfrm>
            <a:off x="6217920" y="1691640"/>
            <a:ext cx="5242255" cy="4389120"/>
          </a:xfrm>
          <a:prstGeom prst="roundRect">
            <a:avLst/>
          </a:prstGeom>
          <a:solidFill>
            <a:srgbClr val="0F1E3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10B981"/>
                </a:solidFill>
                <a:latin typeface="Trebuchet MS"/>
              </a:defRPr>
            </a:pPr>
            <a:r>
              <a:t>Autonomous Swarm Recovery in Action</a:t>
            </a:r>
          </a:p>
        </p:txBody>
      </p:sp>
      <p:pic>
        <p:nvPicPr>
          <p:cNvPr id="12" name="Picture 11" descr="autonomous_swarm_recovery_path_p0_s0__p1_s0__p1_s1__p0_s1__p3_s1__p2_s1__p2_s0__p3_s0__p3_s3__p2_s3_snapshot.png"/>
          <p:cNvPicPr>
            <a:picLocks noChangeAspect="1"/>
          </p:cNvPicPr>
          <p:nvPr/>
        </p:nvPicPr>
        <p:blipFill>
          <a:blip r:embed="rId2"/>
          <a:stretch>
            <a:fillRect/>
          </a:stretch>
        </p:blipFill>
        <p:spPr>
          <a:xfrm>
            <a:off x="6400800" y="2240280"/>
            <a:ext cx="4876495" cy="3566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EMPIRICAL RESULTS &amp; METRICS</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Experimental Evaluation: Benchmark Comparison</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9 of 12</a:t>
            </a:r>
          </a:p>
        </p:txBody>
      </p:sp>
      <p:sp>
        <p:nvSpPr>
          <p:cNvPr id="7" name="Rounded Rectangle 6"/>
          <p:cNvSpPr/>
          <p:nvPr/>
        </p:nvSpPr>
        <p:spPr>
          <a:xfrm>
            <a:off x="731520" y="1691640"/>
            <a:ext cx="5212080"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00E5FF"/>
                </a:solidFill>
                <a:latin typeface="Trebuchet MS"/>
              </a:defRPr>
            </a:pPr>
            <a:r>
              <a:t>Baseline Protocol Comparison</a:t>
            </a:r>
          </a:p>
        </p:txBody>
      </p:sp>
      <p:pic>
        <p:nvPicPr>
          <p:cNvPr id="9" name="Picture 8" descr="8_baseline_comparison.png"/>
          <p:cNvPicPr>
            <a:picLocks noChangeAspect="1"/>
          </p:cNvPicPr>
          <p:nvPr/>
        </p:nvPicPr>
        <p:blipFill>
          <a:blip r:embed="rId2"/>
          <a:stretch>
            <a:fillRect/>
          </a:stretch>
        </p:blipFill>
        <p:spPr>
          <a:xfrm>
            <a:off x="868680" y="2240280"/>
            <a:ext cx="4937760" cy="3657600"/>
          </a:xfrm>
          <a:prstGeom prst="rect">
            <a:avLst/>
          </a:prstGeom>
        </p:spPr>
      </p:pic>
      <p:sp>
        <p:nvSpPr>
          <p:cNvPr id="10" name="Rounded Rectangle 9"/>
          <p:cNvSpPr/>
          <p:nvPr/>
        </p:nvSpPr>
        <p:spPr>
          <a:xfrm>
            <a:off x="6217920" y="1691640"/>
            <a:ext cx="5242255" cy="4389120"/>
          </a:xfrm>
          <a:prstGeom prst="roundRect">
            <a:avLst/>
          </a:prstGeom>
          <a:solidFill>
            <a:srgbClr val="0F1E3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10B981"/>
                </a:solidFill>
                <a:latin typeface="Trebuchet MS"/>
              </a:defRPr>
            </a:pPr>
            <a:r>
              <a:t>Key Empirical Findings</a:t>
            </a:r>
          </a:p>
        </p:txBody>
      </p:sp>
      <p:sp>
        <p:nvSpPr>
          <p:cNvPr id="12" name="TextBox 11"/>
          <p:cNvSpPr txBox="1"/>
          <p:nvPr/>
        </p:nvSpPr>
        <p:spPr>
          <a:xfrm>
            <a:off x="6355080" y="2240280"/>
            <a:ext cx="4937760" cy="3749039"/>
          </a:xfrm>
          <a:prstGeom prst="rect">
            <a:avLst/>
          </a:prstGeom>
          <a:noFill/>
        </p:spPr>
        <p:txBody>
          <a:bodyPr wrap="square">
            <a:spAutoFit/>
          </a:bodyPr>
          <a:lstStyle/>
          <a:p>
            <a:pPr>
              <a:defRPr b="1" sz="1300">
                <a:solidFill>
                  <a:srgbClr val="FFFFFF"/>
                </a:solidFill>
              </a:defRPr>
            </a:pPr>
            <a:r>
              <a:t>Comparative Benchmark Metrics:</a:t>
            </a:r>
          </a:p>
          <a:p>
            <a:pPr>
              <a:defRPr sz="1100">
                <a:solidFill>
                  <a:srgbClr val="A0B9DC"/>
                </a:solidFill>
              </a:defRPr>
            </a:pPr>
            <a:r>
              <a:t>• Packet Delivery Ratio (PDR): I-MACSI achieves 83.0% under multi-link failure vs 58.0% for Basic Q-Routing and 34.2% for Dijkstra.</a:t>
            </a:r>
          </a:p>
          <a:p>
            <a:pPr>
              <a:defRPr sz="1100">
                <a:solidFill>
                  <a:srgbClr val="A0B9DC"/>
                </a:solidFill>
              </a:defRPr>
            </a:pPr>
            <a:r>
              <a:t>• Latency under High Load: Average latency reduced by 41.8% during heavy burst traffic due to proactive queue bypass.</a:t>
            </a:r>
          </a:p>
          <a:p>
            <a:pPr>
              <a:defRPr sz="1100">
                <a:solidFill>
                  <a:srgbClr val="A0B9DC"/>
                </a:solidFill>
              </a:defRPr>
            </a:pPr>
            <a:r>
              <a:t>• Throughput Maximization: Earth Observation flows achieve 2.8x higher throughput by dynamically utilizing multi-plane links.</a:t>
            </a:r>
          </a:p>
          <a:p>
            <a:pPr>
              <a:defRPr sz="1100">
                <a:solidFill>
                  <a:srgbClr val="A0B9DC"/>
                </a:solidFill>
              </a:defRPr>
            </a:pPr>
            <a:r>
              <a:t>• Fault Recovery Speed: Autonomous rerouting achieved in &lt;1.2 seconds, eliminating packet blackout periods.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VALIDATION &amp; SCALABILITY</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Ablation Study &amp; Constellation Scalability Analysis</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10 of 12</a:t>
            </a:r>
          </a:p>
        </p:txBody>
      </p:sp>
      <p:sp>
        <p:nvSpPr>
          <p:cNvPr id="7" name="Rounded Rectangle 6"/>
          <p:cNvSpPr/>
          <p:nvPr/>
        </p:nvSpPr>
        <p:spPr>
          <a:xfrm>
            <a:off x="731520" y="1691640"/>
            <a:ext cx="5212080" cy="4389120"/>
          </a:xfrm>
          <a:prstGeom prst="roundRect">
            <a:avLst/>
          </a:prstGeom>
          <a:solidFill>
            <a:srgbClr val="0F1E3D"/>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A855F7"/>
                </a:solidFill>
                <a:latin typeface="Trebuchet MS"/>
              </a:defRPr>
            </a:pPr>
            <a:r>
              <a:t>Component Ablation Study</a:t>
            </a:r>
          </a:p>
        </p:txBody>
      </p:sp>
      <p:pic>
        <p:nvPicPr>
          <p:cNvPr id="9" name="Picture 8" descr="9_ablation_study.png"/>
          <p:cNvPicPr>
            <a:picLocks noChangeAspect="1"/>
          </p:cNvPicPr>
          <p:nvPr/>
        </p:nvPicPr>
        <p:blipFill>
          <a:blip r:embed="rId2"/>
          <a:stretch>
            <a:fillRect/>
          </a:stretch>
        </p:blipFill>
        <p:spPr>
          <a:xfrm>
            <a:off x="868680" y="2240280"/>
            <a:ext cx="4937760" cy="3657600"/>
          </a:xfrm>
          <a:prstGeom prst="rect">
            <a:avLst/>
          </a:prstGeom>
        </p:spPr>
      </p:pic>
      <p:sp>
        <p:nvSpPr>
          <p:cNvPr id="10" name="Rounded Rectangle 9"/>
          <p:cNvSpPr/>
          <p:nvPr/>
        </p:nvSpPr>
        <p:spPr>
          <a:xfrm>
            <a:off x="6217920" y="1691640"/>
            <a:ext cx="5242255"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00E5FF"/>
                </a:solidFill>
                <a:latin typeface="Trebuchet MS"/>
              </a:defRPr>
            </a:pPr>
            <a:r>
              <a:t>Constellation Scalability (16 to 128 Nodes)</a:t>
            </a:r>
          </a:p>
        </p:txBody>
      </p:sp>
      <p:pic>
        <p:nvPicPr>
          <p:cNvPr id="12" name="Picture 11" descr="15_scalability_comparison.png"/>
          <p:cNvPicPr>
            <a:picLocks noChangeAspect="1"/>
          </p:cNvPicPr>
          <p:nvPr/>
        </p:nvPicPr>
        <p:blipFill>
          <a:blip r:embed="rId3"/>
          <a:stretch>
            <a:fillRect/>
          </a:stretch>
        </p:blipFill>
        <p:spPr>
          <a:xfrm>
            <a:off x="6355080" y="2240280"/>
            <a:ext cx="4937760" cy="3657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PROTOTYPE IMPLEMENTATION</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Digital Twin Prototype &amp; Live 3D Working Model</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11 of 12</a:t>
            </a:r>
          </a:p>
        </p:txBody>
      </p:sp>
      <p:sp>
        <p:nvSpPr>
          <p:cNvPr id="7" name="Rounded Rectangle 6"/>
          <p:cNvSpPr/>
          <p:nvPr/>
        </p:nvSpPr>
        <p:spPr>
          <a:xfrm>
            <a:off x="731520" y="1691640"/>
            <a:ext cx="5212080"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4937760" cy="411480"/>
          </a:xfrm>
          <a:prstGeom prst="rect">
            <a:avLst/>
          </a:prstGeom>
          <a:noFill/>
        </p:spPr>
        <p:txBody>
          <a:bodyPr wrap="square">
            <a:spAutoFit/>
          </a:bodyPr>
          <a:lstStyle/>
          <a:p>
            <a:pPr>
              <a:defRPr sz="1400" b="1">
                <a:solidFill>
                  <a:srgbClr val="00E5FF"/>
                </a:solidFill>
                <a:latin typeface="Trebuchet MS"/>
              </a:defRPr>
            </a:pPr>
            <a:r>
              <a:t>Full-Stack Prototype Architecture</a:t>
            </a:r>
          </a:p>
        </p:txBody>
      </p:sp>
      <p:sp>
        <p:nvSpPr>
          <p:cNvPr id="9" name="TextBox 8"/>
          <p:cNvSpPr txBox="1"/>
          <p:nvPr/>
        </p:nvSpPr>
        <p:spPr>
          <a:xfrm>
            <a:off x="868680" y="2240280"/>
            <a:ext cx="4937760" cy="3749039"/>
          </a:xfrm>
          <a:prstGeom prst="rect">
            <a:avLst/>
          </a:prstGeom>
          <a:noFill/>
        </p:spPr>
        <p:txBody>
          <a:bodyPr wrap="square">
            <a:spAutoFit/>
          </a:bodyPr>
          <a:lstStyle/>
          <a:p>
            <a:pPr>
              <a:defRPr b="1" sz="1300">
                <a:solidFill>
                  <a:srgbClr val="FFFFFF"/>
                </a:solidFill>
              </a:defRPr>
            </a:pPr>
            <a:r>
              <a:t>Interactive Working Model Stack:</a:t>
            </a:r>
          </a:p>
          <a:p>
            <a:pPr>
              <a:defRPr sz="1100">
                <a:solidFill>
                  <a:srgbClr val="A0B9DC"/>
                </a:solidFill>
              </a:defRPr>
            </a:pPr>
            <a:r>
              <a:t>• 3D Frontend (React 18 + Three.js + Vite): Renders realistic Earth globe, 16 satellite orbits, dynamic ISL links, and glowing packet trajectories.</a:t>
            </a:r>
          </a:p>
          <a:p>
            <a:pPr>
              <a:defRPr sz="1100">
                <a:solidFill>
                  <a:srgbClr val="A0B9DC"/>
                </a:solidFill>
              </a:defRPr>
            </a:pPr>
            <a:r>
              <a:t>• Backend Simulation (Python + Flask + Asyncio WebSockets): Orchestrates constellation topology, runs live Q-routing, and handles failure injection.</a:t>
            </a:r>
          </a:p>
          <a:p>
            <a:pPr>
              <a:defRPr sz="1100">
                <a:solidFill>
                  <a:srgbClr val="A0B9DC"/>
                </a:solidFill>
              </a:defRPr>
            </a:pPr>
            <a:r>
              <a:t>• Real-Time Event Bus: Pushes route recalculations, link dropouts, and telemetry to HUD at 60 FPS.</a:t>
            </a:r>
          </a:p>
          <a:p>
            <a:pPr>
              <a:defRPr sz="1100">
                <a:solidFill>
                  <a:srgbClr val="A0B9DC"/>
                </a:solidFill>
              </a:defRPr>
            </a:pPr>
            <a:r>
              <a:t>• One-Click Launch: Automated via `start.bat` script with zero manual port management.</a:t>
            </a:r>
          </a:p>
        </p:txBody>
      </p:sp>
      <p:sp>
        <p:nvSpPr>
          <p:cNvPr id="10" name="Rounded Rectangle 9"/>
          <p:cNvSpPr/>
          <p:nvPr/>
        </p:nvSpPr>
        <p:spPr>
          <a:xfrm>
            <a:off x="6217920" y="1691640"/>
            <a:ext cx="5242255" cy="4389120"/>
          </a:xfrm>
          <a:prstGeom prst="roundRect">
            <a:avLst/>
          </a:prstGeom>
          <a:solidFill>
            <a:srgbClr val="0F1E3D"/>
          </a:solidFill>
          <a:ln w="15240">
            <a:solidFill>
              <a:srgbClr val="4E9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01368"/>
            <a:ext cx="4967935" cy="411480"/>
          </a:xfrm>
          <a:prstGeom prst="rect">
            <a:avLst/>
          </a:prstGeom>
          <a:noFill/>
        </p:spPr>
        <p:txBody>
          <a:bodyPr wrap="square">
            <a:spAutoFit/>
          </a:bodyPr>
          <a:lstStyle/>
          <a:p>
            <a:pPr>
              <a:defRPr sz="1400" b="1">
                <a:solidFill>
                  <a:srgbClr val="4E95FF"/>
                </a:solidFill>
                <a:latin typeface="Trebuchet MS"/>
              </a:defRPr>
            </a:pPr>
            <a:r>
              <a:t>3D Constellation Telemetry HUD</a:t>
            </a:r>
          </a:p>
        </p:txBody>
      </p:sp>
      <p:pic>
        <p:nvPicPr>
          <p:cNvPr id="12" name="Picture 11" descr="3d_prefailure_training_complete_snapshot.png"/>
          <p:cNvPicPr>
            <a:picLocks noChangeAspect="1"/>
          </p:cNvPicPr>
          <p:nvPr/>
        </p:nvPicPr>
        <p:blipFill>
          <a:blip r:embed="rId2"/>
          <a:stretch>
            <a:fillRect/>
          </a:stretch>
        </p:blipFill>
        <p:spPr>
          <a:xfrm>
            <a:off x="6355080" y="2240280"/>
            <a:ext cx="4937760" cy="3657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0F1E3D"/>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E5FF"/>
                </a:solidFill>
                <a:latin typeface="Trebuchet MS"/>
              </a:defRPr>
            </a:pPr>
            <a:r>
              <a:t>PROJECT CONCLUSION &amp; DEFENSE</a:t>
            </a:r>
          </a:p>
        </p:txBody>
      </p:sp>
      <p:sp>
        <p:nvSpPr>
          <p:cNvPr id="4" name="TextBox 3"/>
          <p:cNvSpPr txBox="1"/>
          <p:nvPr/>
        </p:nvSpPr>
        <p:spPr>
          <a:xfrm>
            <a:off x="731520" y="731520"/>
            <a:ext cx="10698480" cy="731520"/>
          </a:xfrm>
          <a:prstGeom prst="rect">
            <a:avLst/>
          </a:prstGeom>
          <a:noFill/>
        </p:spPr>
        <p:txBody>
          <a:bodyPr wrap="square">
            <a:spAutoFit/>
          </a:bodyPr>
          <a:lstStyle/>
          <a:p>
            <a:pPr>
              <a:defRPr sz="2400" b="1">
                <a:solidFill>
                  <a:srgbClr val="FFFFFF"/>
                </a:solidFill>
                <a:latin typeface="Trebuchet MS"/>
              </a:defRPr>
            </a:pPr>
            <a:r>
              <a:t>Summary, Viva Defense Q&amp;A &amp; Future Roadmap</a:t>
            </a:r>
          </a:p>
        </p:txBody>
      </p:sp>
      <p:sp>
        <p:nvSpPr>
          <p:cNvPr id="5" name="Rectangle 4"/>
          <p:cNvSpPr/>
          <p:nvPr/>
        </p:nvSpPr>
        <p:spPr>
          <a:xfrm>
            <a:off x="731520" y="1463040"/>
            <a:ext cx="10728655" cy="1828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09360"/>
            <a:ext cx="10728655" cy="365760"/>
          </a:xfrm>
          <a:prstGeom prst="rect">
            <a:avLst/>
          </a:prstGeom>
          <a:noFill/>
        </p:spPr>
        <p:txBody>
          <a:bodyPr wrap="none">
            <a:spAutoFit/>
          </a:bodyPr>
          <a:lstStyle/>
          <a:p>
            <a:pPr>
              <a:defRPr sz="1000">
                <a:solidFill>
                  <a:srgbClr val="A0B9DC"/>
                </a:solidFill>
                <a:latin typeface="Calibri"/>
              </a:defRPr>
            </a:pPr>
            <a:r>
              <a:t>I-MACSI LEO Mega-Constellation Project  |  Autonomous Cognitive Swarm Routing  |  Slide 12 of 12</a:t>
            </a:r>
          </a:p>
        </p:txBody>
      </p:sp>
      <p:sp>
        <p:nvSpPr>
          <p:cNvPr id="7" name="Rounded Rectangle 6"/>
          <p:cNvSpPr/>
          <p:nvPr/>
        </p:nvSpPr>
        <p:spPr>
          <a:xfrm>
            <a:off x="731520" y="1691640"/>
            <a:ext cx="3328416" cy="4389120"/>
          </a:xfrm>
          <a:prstGeom prst="roundRect">
            <a:avLst/>
          </a:prstGeom>
          <a:solidFill>
            <a:srgbClr val="0F1E3D"/>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3054096" cy="411480"/>
          </a:xfrm>
          <a:prstGeom prst="rect">
            <a:avLst/>
          </a:prstGeom>
          <a:noFill/>
        </p:spPr>
        <p:txBody>
          <a:bodyPr wrap="square">
            <a:spAutoFit/>
          </a:bodyPr>
          <a:lstStyle/>
          <a:p>
            <a:pPr>
              <a:defRPr sz="1400" b="1">
                <a:solidFill>
                  <a:srgbClr val="10B981"/>
                </a:solidFill>
                <a:latin typeface="Trebuchet MS"/>
              </a:defRPr>
            </a:pPr>
            <a:r>
              <a:t>Key Contributions</a:t>
            </a:r>
          </a:p>
        </p:txBody>
      </p:sp>
      <p:sp>
        <p:nvSpPr>
          <p:cNvPr id="9" name="TextBox 8"/>
          <p:cNvSpPr txBox="1"/>
          <p:nvPr/>
        </p:nvSpPr>
        <p:spPr>
          <a:xfrm>
            <a:off x="868680" y="2286000"/>
            <a:ext cx="3054096" cy="3657600"/>
          </a:xfrm>
          <a:prstGeom prst="rect">
            <a:avLst/>
          </a:prstGeom>
          <a:noFill/>
        </p:spPr>
        <p:txBody>
          <a:bodyPr wrap="square">
            <a:spAutoFit/>
          </a:bodyPr>
          <a:lstStyle/>
          <a:p>
            <a:pPr>
              <a:defRPr b="1" sz="1300">
                <a:solidFill>
                  <a:srgbClr val="FFFFFF"/>
                </a:solidFill>
              </a:defRPr>
            </a:pPr>
            <a:r>
              <a:t>What We Delivered:</a:t>
            </a:r>
          </a:p>
          <a:p>
            <a:pPr>
              <a:defRPr sz="1100">
                <a:solidFill>
                  <a:srgbClr val="A0B9DC"/>
                </a:solidFill>
              </a:defRPr>
            </a:pPr>
            <a:r>
              <a:t>• Novel 8D Mission Intent Vector framework for satellite networking.</a:t>
            </a:r>
          </a:p>
          <a:p>
            <a:pPr>
              <a:defRPr sz="1100">
                <a:solidFill>
                  <a:srgbClr val="A0B9DC"/>
                </a:solidFill>
              </a:defRPr>
            </a:pPr>
            <a:r>
              <a:t>• Adaptive Dynamic Reward Shaping in distributed Q-learning.</a:t>
            </a:r>
          </a:p>
          <a:p>
            <a:pPr>
              <a:defRPr sz="1100">
                <a:solidFill>
                  <a:srgbClr val="A0B9DC"/>
                </a:solidFill>
              </a:defRPr>
            </a:pPr>
            <a:r>
              <a:t>• Gossip-based Intent Dissemination protocol with bounded TTL.</a:t>
            </a:r>
          </a:p>
          <a:p>
            <a:pPr>
              <a:defRPr sz="1100">
                <a:solidFill>
                  <a:srgbClr val="A0B9DC"/>
                </a:solidFill>
              </a:defRPr>
            </a:pPr>
            <a:r>
              <a:t>• Full interactive 3D Digital Twin &amp; automated evaluation testbench.</a:t>
            </a:r>
          </a:p>
        </p:txBody>
      </p:sp>
      <p:sp>
        <p:nvSpPr>
          <p:cNvPr id="10" name="Rounded Rectangle 9"/>
          <p:cNvSpPr/>
          <p:nvPr/>
        </p:nvSpPr>
        <p:spPr>
          <a:xfrm>
            <a:off x="4425696" y="1691640"/>
            <a:ext cx="3328416" cy="4389120"/>
          </a:xfrm>
          <a:prstGeom prst="roundRect">
            <a:avLst/>
          </a:prstGeom>
          <a:solidFill>
            <a:srgbClr val="0F1E3D"/>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801368"/>
            <a:ext cx="3054096" cy="411480"/>
          </a:xfrm>
          <a:prstGeom prst="rect">
            <a:avLst/>
          </a:prstGeom>
          <a:noFill/>
        </p:spPr>
        <p:txBody>
          <a:bodyPr wrap="square">
            <a:spAutoFit/>
          </a:bodyPr>
          <a:lstStyle/>
          <a:p>
            <a:pPr>
              <a:defRPr sz="1400" b="1">
                <a:solidFill>
                  <a:srgbClr val="00E5FF"/>
                </a:solidFill>
                <a:latin typeface="Trebuchet MS"/>
              </a:defRPr>
            </a:pPr>
            <a:r>
              <a:t>Viva Defense Q&amp;A</a:t>
            </a:r>
          </a:p>
        </p:txBody>
      </p:sp>
      <p:sp>
        <p:nvSpPr>
          <p:cNvPr id="12" name="TextBox 11"/>
          <p:cNvSpPr txBox="1"/>
          <p:nvPr/>
        </p:nvSpPr>
        <p:spPr>
          <a:xfrm>
            <a:off x="4562856" y="2286000"/>
            <a:ext cx="3054096" cy="3657600"/>
          </a:xfrm>
          <a:prstGeom prst="rect">
            <a:avLst/>
          </a:prstGeom>
          <a:noFill/>
        </p:spPr>
        <p:txBody>
          <a:bodyPr wrap="square">
            <a:spAutoFit/>
          </a:bodyPr>
          <a:lstStyle/>
          <a:p>
            <a:pPr>
              <a:defRPr b="1" sz="1300">
                <a:solidFill>
                  <a:srgbClr val="FFFFFF"/>
                </a:solidFill>
              </a:defRPr>
            </a:pPr>
            <a:r>
              <a:t>Core Technical Justifications:</a:t>
            </a:r>
          </a:p>
          <a:p>
            <a:pPr>
              <a:defRPr sz="1050">
                <a:solidFill>
                  <a:srgbClr val="A0B9DC"/>
                </a:solidFill>
              </a:defRPr>
            </a:pPr>
            <a:r>
              <a:t>Q: Why not DQN on orbit? A: Tabular Q-learning requires minimal RAM/CPU, vital for radiation-hardened chips.</a:t>
            </a:r>
          </a:p>
          <a:p>
            <a:pPr>
              <a:defRPr sz="1050">
                <a:solidFill>
                  <a:srgbClr val="A0B9DC"/>
                </a:solidFill>
              </a:defRPr>
            </a:pPr>
            <a:r>
              <a:t>Q: How are routing loops avoided? A: Bellman discount gamma=0.9 and hop-count penalty eliminate cyclic traps.</a:t>
            </a:r>
          </a:p>
          <a:p>
            <a:pPr>
              <a:defRPr sz="1050">
                <a:solidFill>
                  <a:srgbClr val="A0B9DC"/>
                </a:solidFill>
              </a:defRPr>
            </a:pPr>
            <a:r>
              <a:t>Q: Control overhead cost? A: Gossip bounded to TTL=2 consumes &lt;0.05% of ISL capacity.</a:t>
            </a:r>
          </a:p>
        </p:txBody>
      </p:sp>
      <p:sp>
        <p:nvSpPr>
          <p:cNvPr id="13" name="Rounded Rectangle 12"/>
          <p:cNvSpPr/>
          <p:nvPr/>
        </p:nvSpPr>
        <p:spPr>
          <a:xfrm>
            <a:off x="8119872" y="1691640"/>
            <a:ext cx="3328416" cy="4389120"/>
          </a:xfrm>
          <a:prstGeom prst="roundRect">
            <a:avLst/>
          </a:prstGeom>
          <a:solidFill>
            <a:srgbClr val="0F1E3D"/>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801368"/>
            <a:ext cx="3054096" cy="411480"/>
          </a:xfrm>
          <a:prstGeom prst="rect">
            <a:avLst/>
          </a:prstGeom>
          <a:noFill/>
        </p:spPr>
        <p:txBody>
          <a:bodyPr wrap="square">
            <a:spAutoFit/>
          </a:bodyPr>
          <a:lstStyle/>
          <a:p>
            <a:pPr>
              <a:defRPr sz="1400" b="1">
                <a:solidFill>
                  <a:srgbClr val="A855F7"/>
                </a:solidFill>
                <a:latin typeface="Trebuchet MS"/>
              </a:defRPr>
            </a:pPr>
            <a:r>
              <a:t>Future Roadmap</a:t>
            </a:r>
          </a:p>
        </p:txBody>
      </p:sp>
      <p:sp>
        <p:nvSpPr>
          <p:cNvPr id="15" name="TextBox 14"/>
          <p:cNvSpPr txBox="1"/>
          <p:nvPr/>
        </p:nvSpPr>
        <p:spPr>
          <a:xfrm>
            <a:off x="8257031" y="2286000"/>
            <a:ext cx="3054096" cy="3657600"/>
          </a:xfrm>
          <a:prstGeom prst="rect">
            <a:avLst/>
          </a:prstGeom>
          <a:noFill/>
        </p:spPr>
        <p:txBody>
          <a:bodyPr wrap="square">
            <a:spAutoFit/>
          </a:bodyPr>
          <a:lstStyle/>
          <a:p>
            <a:pPr>
              <a:defRPr b="1" sz="1300">
                <a:solidFill>
                  <a:srgbClr val="FFFFFF"/>
                </a:solidFill>
              </a:defRPr>
            </a:pPr>
            <a:r>
              <a:t>Next Steps:</a:t>
            </a:r>
          </a:p>
          <a:p>
            <a:pPr>
              <a:defRPr sz="1100">
                <a:solidFill>
                  <a:srgbClr val="A0B9DC"/>
                </a:solidFill>
              </a:defRPr>
            </a:pPr>
            <a:r>
              <a:t>• Deep Q-Networks (DQN) with TinyML space hardware quantization.</a:t>
            </a:r>
          </a:p>
          <a:p>
            <a:pPr>
              <a:defRPr sz="1100">
                <a:solidFill>
                  <a:srgbClr val="A0B9DC"/>
                </a:solidFill>
              </a:defRPr>
            </a:pPr>
            <a:r>
              <a:t>• Optical Laser Pointing &amp; Doppler compensation integration.</a:t>
            </a:r>
          </a:p>
          <a:p>
            <a:pPr>
              <a:defRPr sz="1100">
                <a:solidFill>
                  <a:srgbClr val="A0B9DC"/>
                </a:solidFill>
              </a:defRPr>
            </a:pPr>
            <a:r>
              <a:t>• Hardware-in-the-Loop testbed with Raspberry Pi / CubeSat SDRs.</a:t>
            </a:r>
          </a:p>
          <a:p>
            <a:pPr>
              <a:defRPr sz="1100">
                <a:solidFill>
                  <a:srgbClr val="A0B9DC"/>
                </a:solidFill>
              </a:defRPr>
            </a:pPr>
            <a:r>
              <a:t>• Cross-constellation inter-operability (Starlink-Kuiper federated routing).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